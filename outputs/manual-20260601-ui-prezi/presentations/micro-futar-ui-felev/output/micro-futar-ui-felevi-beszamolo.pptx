
<file path=[Content_Types].xml><?xml version="1.0" encoding="utf-8"?>
<Types xmlns="http://schemas.openxmlformats.org/package/2006/content-types">
  <Default Extension="bin" ContentType="application/octet-stream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060A56-FF5F-E113-FF30-04ADB3F633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398EE-FE77-12DF-E539-6D9C3CDF697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9E53CE-CF5D-4D3F-BAE9-EEA2715039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514350"/>
            <a:ext cx="704850" cy="7048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CD3B2A-E618-49BE-9159-1821F8B582BF}"/>
              </a:ext>
            </a:extLst>
          </p:cNvPr>
          <p:cNvSpPr>
            <a:spLocks noGrp="1"/>
          </p:cNvSpPr>
          <p:nvPr/>
        </p:nvSpPr>
        <p:spPr>
          <a:xfrm>
            <a:off x="1466850" y="5143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Micro-futár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EA0548-1BBE-42BE-A8C0-664561016795}"/>
              </a:ext>
            </a:extLst>
          </p:cNvPr>
          <p:cNvSpPr>
            <a:spLocks noGrp="1"/>
          </p:cNvSpPr>
          <p:nvPr/>
        </p:nvSpPr>
        <p:spPr>
          <a:xfrm>
            <a:off x="1466850" y="8953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Féléves munka bemutatása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07A54-156F-474E-B393-1C8A035EC068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7334250" cy="1885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frontendből szerepkör-alapú termékfelület lett.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870302-DD30-4CC3-9C41-7899A1D491A1}"/>
              </a:ext>
            </a:extLst>
          </p:cNvPr>
          <p:cNvSpPr>
            <a:spLocks noGrp="1"/>
          </p:cNvSpPr>
          <p:nvPr/>
        </p:nvSpPr>
        <p:spPr>
          <a:xfrm>
            <a:off x="590550" y="4038600"/>
            <a:ext cx="6762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10 perces bemutató a feladói, logisztikai és futár UI-ról, plusz a mögötte kialakított shared-ui alapról.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33441-462B-4CAD-8C10-A8759465412F}"/>
              </a:ext>
            </a:extLst>
          </p:cNvPr>
          <p:cNvSpPr>
            <a:spLocks noGrp="1"/>
          </p:cNvSpPr>
          <p:nvPr/>
        </p:nvSpPr>
        <p:spPr>
          <a:xfrm>
            <a:off x="8305800" y="1428750"/>
            <a:ext cx="2857500" cy="3581400"/>
          </a:xfrm>
          <a:prstGeom prst="rect">
            <a:avLst/>
          </a:prstGeom>
          <a:solidFill>
            <a:srgbClr val="102032"/>
          </a:solidFill>
          <a:ln w="9525">
            <a:solidFill>
              <a:srgbClr val="10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3B67D9-3BFC-4900-948C-DC10ED39C0DC}"/>
              </a:ext>
            </a:extLst>
          </p:cNvPr>
          <p:cNvSpPr>
            <a:spLocks noGrp="1"/>
          </p:cNvSpPr>
          <p:nvPr/>
        </p:nvSpPr>
        <p:spPr>
          <a:xfrm>
            <a:off x="8591550" y="1714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9D7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D7F5"/>
                </a:solidFill>
                <a:latin typeface="Aptos"/>
                <a:ea typeface="Aptos"/>
                <a:cs typeface="Aptos"/>
              </a:rPr>
              <a:t>Scope a repó alapján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94227F-1D75-4016-958E-E913485947BE}"/>
              </a:ext>
            </a:extLst>
          </p:cNvPr>
          <p:cNvSpPr>
            <a:spLocks noGrp="1"/>
          </p:cNvSpPr>
          <p:nvPr/>
        </p:nvSpPr>
        <p:spPr>
          <a:xfrm>
            <a:off x="8591550" y="22098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11F69-A3F3-4073-9E3F-FAD3688EF503}"/>
              </a:ext>
            </a:extLst>
          </p:cNvPr>
          <p:cNvSpPr>
            <a:spLocks noGrp="1"/>
          </p:cNvSpPr>
          <p:nvPr/>
        </p:nvSpPr>
        <p:spPr>
          <a:xfrm>
            <a:off x="8591550" y="26860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FC0D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0D7"/>
                </a:solidFill>
                <a:latin typeface="Aptos"/>
                <a:ea typeface="Aptos"/>
                <a:cs typeface="Aptos"/>
              </a:rPr>
              <a:t>fő frontend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ABB0C2-C036-4B0D-AD48-8D4D57077512}"/>
              </a:ext>
            </a:extLst>
          </p:cNvPr>
          <p:cNvSpPr>
            <a:spLocks noGrp="1"/>
          </p:cNvSpPr>
          <p:nvPr/>
        </p:nvSpPr>
        <p:spPr>
          <a:xfrm>
            <a:off x="8591550" y="31242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9CE5D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9CE5DB"/>
                </a:solidFill>
                <a:latin typeface="Aptos Display"/>
                <a:ea typeface="Aptos Display"/>
                <a:cs typeface="Aptos Display"/>
              </a:rPr>
              <a:t>38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F55C5-216D-45EF-9509-42886750FD50}"/>
              </a:ext>
            </a:extLst>
          </p:cNvPr>
          <p:cNvSpPr>
            <a:spLocks noGrp="1"/>
          </p:cNvSpPr>
          <p:nvPr/>
        </p:nvSpPr>
        <p:spPr>
          <a:xfrm>
            <a:off x="8591550" y="3600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FC0D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0D7"/>
                </a:solidFill>
                <a:latin typeface="Aptos"/>
                <a:ea typeface="Aptos"/>
                <a:cs typeface="Aptos"/>
              </a:rPr>
              <a:t>route deklaráció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A23EB3-C794-42CF-AC27-5B1B1DDB9947}"/>
              </a:ext>
            </a:extLst>
          </p:cNvPr>
          <p:cNvSpPr>
            <a:spLocks noGrp="1"/>
          </p:cNvSpPr>
          <p:nvPr/>
        </p:nvSpPr>
        <p:spPr>
          <a:xfrm>
            <a:off x="8591550" y="40386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DCA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DCA0"/>
                </a:solidFill>
                <a:latin typeface="Aptos Display"/>
                <a:ea typeface="Aptos Display"/>
                <a:cs typeface="Aptos Display"/>
              </a:rPr>
              <a:t>93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94518-1E8F-4332-9810-F83360AB561C}"/>
              </a:ext>
            </a:extLst>
          </p:cNvPr>
          <p:cNvSpPr>
            <a:spLocks noGrp="1"/>
          </p:cNvSpPr>
          <p:nvPr/>
        </p:nvSpPr>
        <p:spPr>
          <a:xfrm>
            <a:off x="8591550" y="45148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FC0D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0D7"/>
                </a:solidFill>
                <a:latin typeface="Aptos"/>
                <a:ea typeface="Aptos"/>
                <a:cs typeface="Aptos"/>
              </a:rPr>
              <a:t>UI TS/TSX fájl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FB5EE7-1AC7-4F71-AC16-CB1F783AD56A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921178-9896-42C9-9B21-2259ACF2CE16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804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FBD78A1-9A2F-4C70-B5F7-DF766D83A3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D9E75E58-FB04-4CF6-BDC8-033EA59901B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4F8AC103-F952-477F-9F87-72F4F6BC716B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RENDSZERKÉP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9E2AE-16A6-465C-8317-380B0E9A37B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953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frontend nem egy app, hanem három szerepkörre bontott felület.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43064-75E9-4EF3-ADB5-DAB222515FCD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2476500" cy="1066800"/>
          </a:xfrm>
          <a:prstGeom prst="rect">
            <a:avLst/>
          </a:prstGeom>
          <a:solidFill>
            <a:srgbClr val="E9EEFF"/>
          </a:solidFill>
          <a:ln w="9525">
            <a:solidFill>
              <a:srgbClr val="395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775B7-2411-4EB3-B81A-4BA8BE704F34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client-ui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868003-967F-4353-A3D2-934D9E7173BE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Feladó/címzett: csomagfeladás, csomaglista, nyomkövetés.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D4BAF7-AC18-4991-B36C-771B4EA49036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2476500" cy="1066800"/>
          </a:xfrm>
          <a:prstGeom prst="rect">
            <a:avLst/>
          </a:prstGeom>
          <a:solidFill>
            <a:srgbClr val="F7E7C8"/>
          </a:solidFill>
          <a:ln w="9525">
            <a:solidFill>
              <a:srgbClr val="D99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CE5AEB-BF4B-4217-922A-F2F5389E85A3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logistics-ui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EC7B08-5011-4739-BB82-00AB4CBD326A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Depók, futárok, lokációk, méretek és járművek adminja.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2371F1-90BF-4D8F-B96F-C169C0265E37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2476500" cy="1066800"/>
          </a:xfrm>
          <a:prstGeom prst="rect">
            <a:avLst/>
          </a:prstGeom>
          <a:solidFill>
            <a:srgbClr val="DDF5F1"/>
          </a:solidFill>
          <a:ln w="9525">
            <a:solidFill>
              <a:srgbClr val="0C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BDF562-AF23-4DF7-8422-DA89A7D52D65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courier-ui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87F298-ABE1-4A3F-955D-1798F27CA370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Napi kiosztások, felvétel, leadás és részletek.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163A51-1C66-4E74-B8D0-BCB297106E8A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2571750" cy="2305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D2A468-E6C8-417B-BCE9-53B8F157A119}"/>
              </a:ext>
            </a:extLst>
          </p:cNvPr>
          <p:cNvSpPr>
            <a:spLocks noGrp="1"/>
          </p:cNvSpPr>
          <p:nvPr/>
        </p:nvSpPr>
        <p:spPr>
          <a:xfrm>
            <a:off x="4629150" y="2609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shared-ui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E26C6-A474-42F0-9C9A-E859064F8303}"/>
              </a:ext>
            </a:extLst>
          </p:cNvPr>
          <p:cNvSpPr>
            <a:spLocks noGrp="1"/>
          </p:cNvSpPr>
          <p:nvPr/>
        </p:nvSpPr>
        <p:spPr>
          <a:xfrm>
            <a:off x="4629150" y="3028950"/>
            <a:ext cx="20764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PortalLayout</a:t>
            </a:r>
          </a:p>
          <a:p>
            <a:pPr algn="l">
              <a:defRPr sz="12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AuthProvider</a:t>
            </a:r>
          </a:p>
          <a:p>
            <a:pPr algn="l">
              <a:defRPr sz="12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DataTable</a:t>
            </a:r>
          </a:p>
          <a:p>
            <a:pPr algn="l">
              <a:defRPr sz="12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LocationMapPicker</a:t>
            </a:r>
          </a:p>
          <a:p>
            <a:pPr algn="l">
              <a:defRPr sz="123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FormSection / PrecisionInput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F79FCD-2527-4EBB-8007-F8CF2A192C40}"/>
              </a:ext>
            </a:extLst>
          </p:cNvPr>
          <p:cNvSpPr>
            <a:spLocks noGrp="1"/>
          </p:cNvSpPr>
          <p:nvPr/>
        </p:nvSpPr>
        <p:spPr>
          <a:xfrm>
            <a:off x="8286750" y="2362200"/>
            <a:ext cx="2743200" cy="2305050"/>
          </a:xfrm>
          <a:prstGeom prst="rect">
            <a:avLst/>
          </a:prstGeom>
          <a:solidFill>
            <a:srgbClr val="102032"/>
          </a:solidFill>
          <a:ln w="9525">
            <a:solidFill>
              <a:srgbClr val="10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19CB2-B394-4C6B-B8C6-3A4A7A45D08E}"/>
              </a:ext>
            </a:extLst>
          </p:cNvPr>
          <p:cNvSpPr>
            <a:spLocks noGrp="1"/>
          </p:cNvSpPr>
          <p:nvPr/>
        </p:nvSpPr>
        <p:spPr>
          <a:xfrm>
            <a:off x="8572500" y="2609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szerződések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F2B43B-8B59-466F-82E6-CB9F57F96C5D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200025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E4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F8"/>
                </a:solidFill>
                <a:latin typeface="Aptos"/>
                <a:ea typeface="Aptos"/>
                <a:cs typeface="Aptos"/>
              </a:rPr>
              <a:t>Orders</a:t>
            </a:r>
          </a:p>
          <a:p>
            <a:pPr algn="l">
              <a:defRPr sz="1350" b="0">
                <a:solidFill>
                  <a:srgbClr val="D9E4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F8"/>
                </a:solidFill>
                <a:latin typeface="Aptos"/>
                <a:ea typeface="Aptos"/>
                <a:cs typeface="Aptos"/>
              </a:rPr>
              <a:t>Tracking</a:t>
            </a:r>
          </a:p>
          <a:p>
            <a:pPr algn="l">
              <a:defRPr sz="1350" b="0">
                <a:solidFill>
                  <a:srgbClr val="D9E4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F8"/>
                </a:solidFill>
                <a:latin typeface="Aptos"/>
                <a:ea typeface="Aptos"/>
                <a:cs typeface="Aptos"/>
              </a:rPr>
              <a:t>Logistics</a:t>
            </a:r>
          </a:p>
          <a:p>
            <a:pPr algn="l">
              <a:defRPr sz="1350" b="0">
                <a:solidFill>
                  <a:srgbClr val="D9E4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F8"/>
                </a:solidFill>
                <a:latin typeface="Aptos"/>
                <a:ea typeface="Aptos"/>
                <a:cs typeface="Aptos"/>
              </a:rPr>
              <a:t>Courier</a:t>
            </a:r>
          </a:p>
          <a:p>
            <a:pPr algn="l">
              <a:defRPr sz="1350" b="0">
                <a:solidFill>
                  <a:srgbClr val="D9E4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4F8"/>
                </a:solidFill>
                <a:latin typeface="Aptos"/>
                <a:ea typeface="Aptos"/>
                <a:cs typeface="Aptos"/>
              </a:rPr>
              <a:t>Keycloak auth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11C661-1FE6-4B0E-9EA8-D1532E70120D}"/>
              </a:ext>
            </a:extLst>
          </p:cNvPr>
          <p:cNvSpPr>
            <a:spLocks noGrp="1"/>
          </p:cNvSpPr>
          <p:nvPr/>
        </p:nvSpPr>
        <p:spPr>
          <a:xfrm>
            <a:off x="3143250" y="2476500"/>
            <a:ext cx="10287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296091-065D-45B8-8CF9-355554C966AE}"/>
              </a:ext>
            </a:extLst>
          </p:cNvPr>
          <p:cNvSpPr>
            <a:spLocks noGrp="1"/>
          </p:cNvSpPr>
          <p:nvPr/>
        </p:nvSpPr>
        <p:spPr>
          <a:xfrm>
            <a:off x="4171950" y="23526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A19A19-CC0D-400A-A271-41C56C464B8F}"/>
              </a:ext>
            </a:extLst>
          </p:cNvPr>
          <p:cNvSpPr>
            <a:spLocks noGrp="1"/>
          </p:cNvSpPr>
          <p:nvPr/>
        </p:nvSpPr>
        <p:spPr>
          <a:xfrm>
            <a:off x="3143250" y="3848100"/>
            <a:ext cx="10287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8DAE70-8D8F-41A0-8102-22A392044AF4}"/>
              </a:ext>
            </a:extLst>
          </p:cNvPr>
          <p:cNvSpPr>
            <a:spLocks noGrp="1"/>
          </p:cNvSpPr>
          <p:nvPr/>
        </p:nvSpPr>
        <p:spPr>
          <a:xfrm>
            <a:off x="4171950" y="37242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55B4E8-8B5B-4A87-9E4A-984A11009604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10287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C2023E-F91C-473B-A72A-FB71FA0784F0}"/>
              </a:ext>
            </a:extLst>
          </p:cNvPr>
          <p:cNvSpPr>
            <a:spLocks noGrp="1"/>
          </p:cNvSpPr>
          <p:nvPr/>
        </p:nvSpPr>
        <p:spPr>
          <a:xfrm>
            <a:off x="4171950" y="50958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1A254E-01A8-40E9-9B27-26072B692762}"/>
              </a:ext>
            </a:extLst>
          </p:cNvPr>
          <p:cNvSpPr>
            <a:spLocks noGrp="1"/>
          </p:cNvSpPr>
          <p:nvPr/>
        </p:nvSpPr>
        <p:spPr>
          <a:xfrm>
            <a:off x="6953250" y="3505200"/>
            <a:ext cx="11239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CB6110-174A-456B-8954-E76F1D4B1D3B}"/>
              </a:ext>
            </a:extLst>
          </p:cNvPr>
          <p:cNvSpPr>
            <a:spLocks noGrp="1"/>
          </p:cNvSpPr>
          <p:nvPr/>
        </p:nvSpPr>
        <p:spPr>
          <a:xfrm>
            <a:off x="8077200" y="33813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FD6775-6775-4BDC-9771-9C6E78992CB9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A döntés lényege: a szerepek külön appban élnek, de a navigáció, auth, táblázat és térkép közös alapra került.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EFB55B-2B54-4611-87FB-8D6321A80199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E47240-F232-4FDE-A4B2-AD5B45FB00C4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146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C93AC16-F31F-4E56-888E-C660862974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9F6380BD-5838-44DC-B668-EA03BFC56E7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5A63A4E5-A900-403F-9182-7E1DA555AF51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FÉLÉVES ÍV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ED12B-01AD-4F7D-9FD4-4A75A317546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144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munka fókusza a képernyők összekötése volt workflow-vá.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4043A-C5EE-4FA4-A368-FBC93D4B1D07}"/>
              </a:ext>
            </a:extLst>
          </p:cNvPr>
          <p:cNvSpPr>
            <a:spLocks noGrp="1"/>
          </p:cNvSpPr>
          <p:nvPr/>
        </p:nvSpPr>
        <p:spPr>
          <a:xfrm>
            <a:off x="1123950" y="3219450"/>
            <a:ext cx="9334500" cy="28575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DE69CA-1A42-4B21-BCD3-5ECEB4BAAB66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781050" cy="781050"/>
          </a:xfrm>
          <a:prstGeom prst="rect">
            <a:avLst/>
          </a:prstGeom>
          <a:solidFill>
            <a:srgbClr val="395A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50093A-5825-4FD6-82F2-B7702C62DA79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78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A6DC3-A9BE-43C0-A684-1F5BD72AD9EA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Alap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79833C-B443-4A0E-98C4-A8A13B86BC9B}"/>
              </a:ext>
            </a:extLst>
          </p:cNvPr>
          <p:cNvSpPr>
            <a:spLocks noGrp="1"/>
          </p:cNvSpPr>
          <p:nvPr/>
        </p:nvSpPr>
        <p:spPr>
          <a:xfrm>
            <a:off x="266700" y="40576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Vite + React + Tailwind workspace, külön appok és shared csomagok.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94FB27-BC1D-42B1-A240-5541291685A9}"/>
              </a:ext>
            </a:extLst>
          </p:cNvPr>
          <p:cNvSpPr>
            <a:spLocks noGrp="1"/>
          </p:cNvSpPr>
          <p:nvPr/>
        </p:nvSpPr>
        <p:spPr>
          <a:xfrm>
            <a:off x="2990850" y="2590800"/>
            <a:ext cx="781050" cy="781050"/>
          </a:xfrm>
          <a:prstGeom prst="rect">
            <a:avLst/>
          </a:prstGeom>
          <a:solidFill>
            <a:srgbClr val="0C948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293C2-A93C-438D-A80C-0036E169F49A}"/>
              </a:ext>
            </a:extLst>
          </p:cNvPr>
          <p:cNvSpPr>
            <a:spLocks noGrp="1"/>
          </p:cNvSpPr>
          <p:nvPr/>
        </p:nvSpPr>
        <p:spPr>
          <a:xfrm>
            <a:off x="2990850" y="2724150"/>
            <a:ext cx="78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DC1E8F-F1CA-413E-8B6B-2B96916E0C5C}"/>
              </a:ext>
            </a:extLst>
          </p:cNvPr>
          <p:cNvSpPr>
            <a:spLocks noGrp="1"/>
          </p:cNvSpPr>
          <p:nvPr/>
        </p:nvSpPr>
        <p:spPr>
          <a:xfrm>
            <a:off x="2628900" y="36766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Feladói út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63EC7-4A56-434D-9299-D4169C108DF5}"/>
              </a:ext>
            </a:extLst>
          </p:cNvPr>
          <p:cNvSpPr>
            <a:spLocks noGrp="1"/>
          </p:cNvSpPr>
          <p:nvPr/>
        </p:nvSpPr>
        <p:spPr>
          <a:xfrm>
            <a:off x="2438400" y="40576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Csomagfeladás, árlogika, térképes címkoordináta és saját csomagok.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CE2D5-2381-49FF-B923-0E349C400D44}"/>
              </a:ext>
            </a:extLst>
          </p:cNvPr>
          <p:cNvSpPr>
            <a:spLocks noGrp="1"/>
          </p:cNvSpPr>
          <p:nvPr/>
        </p:nvSpPr>
        <p:spPr>
          <a:xfrm>
            <a:off x="5162550" y="2590800"/>
            <a:ext cx="781050" cy="781050"/>
          </a:xfrm>
          <a:prstGeom prst="rect">
            <a:avLst/>
          </a:prstGeom>
          <a:solidFill>
            <a:srgbClr val="395A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A9CB21-5083-4C37-BAF7-5559D1F56B37}"/>
              </a:ext>
            </a:extLst>
          </p:cNvPr>
          <p:cNvSpPr>
            <a:spLocks noGrp="1"/>
          </p:cNvSpPr>
          <p:nvPr/>
        </p:nvSpPr>
        <p:spPr>
          <a:xfrm>
            <a:off x="5162550" y="2724150"/>
            <a:ext cx="78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902C2-CFF1-4DB9-9E9C-17DFB92E25E8}"/>
              </a:ext>
            </a:extLst>
          </p:cNvPr>
          <p:cNvSpPr>
            <a:spLocks noGrp="1"/>
          </p:cNvSpPr>
          <p:nvPr/>
        </p:nvSpPr>
        <p:spPr>
          <a:xfrm>
            <a:off x="4800600" y="36766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Operáció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DC4035-57B0-4DA0-B013-39AF34662740}"/>
              </a:ext>
            </a:extLst>
          </p:cNvPr>
          <p:cNvSpPr>
            <a:spLocks noGrp="1"/>
          </p:cNvSpPr>
          <p:nvPr/>
        </p:nvSpPr>
        <p:spPr>
          <a:xfrm>
            <a:off x="4610100" y="40576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Logisztikai adminfelületek, CRUD-formok, listák, részletek.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F8001-C71B-4285-B869-CE7B8FCB9EBE}"/>
              </a:ext>
            </a:extLst>
          </p:cNvPr>
          <p:cNvSpPr>
            <a:spLocks noGrp="1"/>
          </p:cNvSpPr>
          <p:nvPr/>
        </p:nvSpPr>
        <p:spPr>
          <a:xfrm>
            <a:off x="7334250" y="2590800"/>
            <a:ext cx="781050" cy="781050"/>
          </a:xfrm>
          <a:prstGeom prst="rect">
            <a:avLst/>
          </a:prstGeom>
          <a:solidFill>
            <a:srgbClr val="0C948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F304EF-04C1-4D63-9D32-1DF1298F1BE6}"/>
              </a:ext>
            </a:extLst>
          </p:cNvPr>
          <p:cNvSpPr>
            <a:spLocks noGrp="1"/>
          </p:cNvSpPr>
          <p:nvPr/>
        </p:nvSpPr>
        <p:spPr>
          <a:xfrm>
            <a:off x="7334250" y="2724150"/>
            <a:ext cx="78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24C6F4-4F50-4726-A1C7-1CF8199744D1}"/>
              </a:ext>
            </a:extLst>
          </p:cNvPr>
          <p:cNvSpPr>
            <a:spLocks noGrp="1"/>
          </p:cNvSpPr>
          <p:nvPr/>
        </p:nvSpPr>
        <p:spPr>
          <a:xfrm>
            <a:off x="6972300" y="36766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Terepmunka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21FB2-5538-45BC-99D2-13AD4E2E0D00}"/>
              </a:ext>
            </a:extLst>
          </p:cNvPr>
          <p:cNvSpPr>
            <a:spLocks noGrp="1"/>
          </p:cNvSpPr>
          <p:nvPr/>
        </p:nvSpPr>
        <p:spPr>
          <a:xfrm>
            <a:off x="6781800" y="40576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Futár napi lista, térképes kiosztások, pickup/dropoff akciók.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AA9771-22BD-49F0-A972-5C21A2580A93}"/>
              </a:ext>
            </a:extLst>
          </p:cNvPr>
          <p:cNvSpPr>
            <a:spLocks noGrp="1"/>
          </p:cNvSpPr>
          <p:nvPr/>
        </p:nvSpPr>
        <p:spPr>
          <a:xfrm>
            <a:off x="9505950" y="2590800"/>
            <a:ext cx="781050" cy="781050"/>
          </a:xfrm>
          <a:prstGeom prst="rect">
            <a:avLst/>
          </a:prstGeom>
          <a:solidFill>
            <a:srgbClr val="395A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9B9D2B-8BF8-4040-8CB4-E622E2A8A4B5}"/>
              </a:ext>
            </a:extLst>
          </p:cNvPr>
          <p:cNvSpPr>
            <a:spLocks noGrp="1"/>
          </p:cNvSpPr>
          <p:nvPr/>
        </p:nvSpPr>
        <p:spPr>
          <a:xfrm>
            <a:off x="9505950" y="2724150"/>
            <a:ext cx="78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EDBFB4-8EE4-4B95-8CD9-4EA9BFD01384}"/>
              </a:ext>
            </a:extLst>
          </p:cNvPr>
          <p:cNvSpPr>
            <a:spLocks noGrp="1"/>
          </p:cNvSpPr>
          <p:nvPr/>
        </p:nvSpPr>
        <p:spPr>
          <a:xfrm>
            <a:off x="9144000" y="36766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Közösítés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DCC8E2-FA0A-49E2-A80B-7B0953680E65}"/>
              </a:ext>
            </a:extLst>
          </p:cNvPr>
          <p:cNvSpPr>
            <a:spLocks noGrp="1"/>
          </p:cNvSpPr>
          <p:nvPr/>
        </p:nvSpPr>
        <p:spPr>
          <a:xfrm>
            <a:off x="8953500" y="4057650"/>
            <a:ext cx="1905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Auth, layout, táblázat, API-kliensek és responsive portálminta.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837359-2ACB-4C58-B0D7-935AC56FF2C8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C13751-5CBC-49FA-A63C-15F42D161BC3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436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178BFA1-A265-4DC1-848B-3F3A613C2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A2FB6272-5EE6-4637-805D-3138E877249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539F9619-4286-4897-8D3D-032D1B6A6CD3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FELADÓI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2EA6B-A3A3-42A4-B273-C2E2E9A95698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953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feladói felület végigvezeti az önkiszolgáló csomagutat.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DF759-8935-45BA-BAB1-987192A6C0C0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2095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4D8F4-99C0-4674-B1D3-5D290B955820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Landing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944D95-FC27-4ABD-9BF6-D92FCED74C64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1752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Belépési pont és szerep szerint terelt navigáció.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667EC6-50BD-45FB-A3C2-E5DC268A67E4}"/>
              </a:ext>
            </a:extLst>
          </p:cNvPr>
          <p:cNvSpPr>
            <a:spLocks noGrp="1"/>
          </p:cNvSpPr>
          <p:nvPr/>
        </p:nvSpPr>
        <p:spPr>
          <a:xfrm>
            <a:off x="3381375" y="1943100"/>
            <a:ext cx="2476500" cy="1809750"/>
          </a:xfrm>
          <a:prstGeom prst="rect">
            <a:avLst/>
          </a:prstGeom>
          <a:solidFill>
            <a:srgbClr val="E9EEFF"/>
          </a:solidFill>
          <a:ln w="9525">
            <a:solidFill>
              <a:srgbClr val="395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BEB85-45ED-4311-8CFD-FA6C9FD893D9}"/>
              </a:ext>
            </a:extLst>
          </p:cNvPr>
          <p:cNvSpPr>
            <a:spLocks noGrp="1"/>
          </p:cNvSpPr>
          <p:nvPr/>
        </p:nvSpPr>
        <p:spPr>
          <a:xfrm>
            <a:off x="3552825" y="20955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Csomag feladása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CC1E4-7CDC-4289-A6AC-26BA2A63E223}"/>
              </a:ext>
            </a:extLst>
          </p:cNvPr>
          <p:cNvSpPr>
            <a:spLocks noGrp="1"/>
          </p:cNvSpPr>
          <p:nvPr/>
        </p:nvSpPr>
        <p:spPr>
          <a:xfrm>
            <a:off x="3552825" y="2400300"/>
            <a:ext cx="21336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Feladó/címzett adatok, csomagméret, díjszámítás, térképes pin.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E90E11-D686-459C-874B-2F1514B2FF17}"/>
              </a:ext>
            </a:extLst>
          </p:cNvPr>
          <p:cNvSpPr>
            <a:spLocks noGrp="1"/>
          </p:cNvSpPr>
          <p:nvPr/>
        </p:nvSpPr>
        <p:spPr>
          <a:xfrm>
            <a:off x="6572250" y="2228850"/>
            <a:ext cx="20955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AF6A26-07A3-4D60-9688-7180086ECDAB}"/>
              </a:ext>
            </a:extLst>
          </p:cNvPr>
          <p:cNvSpPr>
            <a:spLocks noGrp="1"/>
          </p:cNvSpPr>
          <p:nvPr/>
        </p:nvSpPr>
        <p:spPr>
          <a:xfrm>
            <a:off x="6743700" y="23812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Saját csomagjaim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AD1B9F-FB53-45A1-975B-39F2F904B539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1752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Statisztika és listanézet a felhasználó küldeményeihez.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51B781-44B5-476E-B5C4-482732A4240F}"/>
              </a:ext>
            </a:extLst>
          </p:cNvPr>
          <p:cNvSpPr>
            <a:spLocks noGrp="1"/>
          </p:cNvSpPr>
          <p:nvPr/>
        </p:nvSpPr>
        <p:spPr>
          <a:xfrm>
            <a:off x="9239250" y="1943100"/>
            <a:ext cx="2095500" cy="1809750"/>
          </a:xfrm>
          <a:prstGeom prst="rect">
            <a:avLst/>
          </a:prstGeom>
          <a:solidFill>
            <a:srgbClr val="DDF5F1"/>
          </a:solidFill>
          <a:ln w="9525">
            <a:solidFill>
              <a:srgbClr val="0C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7BE92B-933A-4494-974F-65EA3211339C}"/>
              </a:ext>
            </a:extLst>
          </p:cNvPr>
          <p:cNvSpPr>
            <a:spLocks noGrp="1"/>
          </p:cNvSpPr>
          <p:nvPr/>
        </p:nvSpPr>
        <p:spPr>
          <a:xfrm>
            <a:off x="9410700" y="209550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Nyomkövetés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5AE467-1522-4FFE-974C-9A20B9E9179B}"/>
              </a:ext>
            </a:extLst>
          </p:cNvPr>
          <p:cNvSpPr>
            <a:spLocks noGrp="1"/>
          </p:cNvSpPr>
          <p:nvPr/>
        </p:nvSpPr>
        <p:spPr>
          <a:xfrm>
            <a:off x="9410700" y="2400300"/>
            <a:ext cx="17526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Keresés tracking number alapján, állapot, timeline és kézbesítési információ.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5A7B11-7C6F-4DAA-8D4F-5EAB411B4F2E}"/>
              </a:ext>
            </a:extLst>
          </p:cNvPr>
          <p:cNvSpPr>
            <a:spLocks noGrp="1"/>
          </p:cNvSpPr>
          <p:nvPr/>
        </p:nvSpPr>
        <p:spPr>
          <a:xfrm>
            <a:off x="2762250" y="2857500"/>
            <a:ext cx="409575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94835-C68A-4411-B021-0022F3E19325}"/>
              </a:ext>
            </a:extLst>
          </p:cNvPr>
          <p:cNvSpPr>
            <a:spLocks noGrp="1"/>
          </p:cNvSpPr>
          <p:nvPr/>
        </p:nvSpPr>
        <p:spPr>
          <a:xfrm>
            <a:off x="3171825" y="27336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D51FCB-24C3-4A9E-A243-6C7F7A8F339C}"/>
              </a:ext>
            </a:extLst>
          </p:cNvPr>
          <p:cNvSpPr>
            <a:spLocks noGrp="1"/>
          </p:cNvSpPr>
          <p:nvPr/>
        </p:nvSpPr>
        <p:spPr>
          <a:xfrm>
            <a:off x="5857875" y="2857500"/>
            <a:ext cx="504825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A14AEE-81AA-4D41-9CE2-4DB319FD7AB1}"/>
              </a:ext>
            </a:extLst>
          </p:cNvPr>
          <p:cNvSpPr>
            <a:spLocks noGrp="1"/>
          </p:cNvSpPr>
          <p:nvPr/>
        </p:nvSpPr>
        <p:spPr>
          <a:xfrm>
            <a:off x="6362700" y="27336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EADE2D-0DAF-4DB4-A1D2-B8283C3CADC9}"/>
              </a:ext>
            </a:extLst>
          </p:cNvPr>
          <p:cNvSpPr>
            <a:spLocks noGrp="1"/>
          </p:cNvSpPr>
          <p:nvPr/>
        </p:nvSpPr>
        <p:spPr>
          <a:xfrm>
            <a:off x="8667750" y="2857500"/>
            <a:ext cx="3619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C1037D-CEB5-441F-A8AF-0C7C4EA6C4E7}"/>
              </a:ext>
            </a:extLst>
          </p:cNvPr>
          <p:cNvSpPr>
            <a:spLocks noGrp="1"/>
          </p:cNvSpPr>
          <p:nvPr/>
        </p:nvSpPr>
        <p:spPr>
          <a:xfrm>
            <a:off x="9029700" y="27336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8B948C-A052-4E06-BA44-703B68E37374}"/>
              </a:ext>
            </a:extLst>
          </p:cNvPr>
          <p:cNvSpPr>
            <a:spLocks noGrp="1"/>
          </p:cNvSpPr>
          <p:nvPr/>
        </p:nvSpPr>
        <p:spPr>
          <a:xfrm>
            <a:off x="1428750" y="4591050"/>
            <a:ext cx="9334500" cy="819150"/>
          </a:xfrm>
          <a:prstGeom prst="rect">
            <a:avLst/>
          </a:prstGeom>
          <a:solidFill>
            <a:srgbClr val="102032"/>
          </a:solidFill>
          <a:ln w="9525">
            <a:solidFill>
              <a:srgbClr val="10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4CDAE6-3E64-4FDD-8956-5BB4EBC91140}"/>
              </a:ext>
            </a:extLst>
          </p:cNvPr>
          <p:cNvSpPr>
            <a:spLocks noGrp="1"/>
          </p:cNvSpPr>
          <p:nvPr/>
        </p:nvSpPr>
        <p:spPr>
          <a:xfrm>
            <a:off x="1714500" y="48196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FD0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FD0FF"/>
                </a:solidFill>
                <a:latin typeface="Aptos"/>
                <a:ea typeface="Aptos"/>
                <a:cs typeface="Aptos"/>
              </a:rPr>
              <a:t>Miért fontos?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E09979-EC43-4AEC-86C0-DFBF929E78BC}"/>
              </a:ext>
            </a:extLst>
          </p:cNvPr>
          <p:cNvSpPr>
            <a:spLocks noGrp="1"/>
          </p:cNvSpPr>
          <p:nvPr/>
        </p:nvSpPr>
        <p:spPr>
          <a:xfrm>
            <a:off x="3238500" y="4791075"/>
            <a:ext cx="695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feladó nem külön technikai endpointokat lát, hanem egy egyben értelmezhető szolgáltatási folyamatot: cím -&gt; ár -&gt; feladás -&gt; státusz.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3C615C-FF42-4589-A148-9BC6EA47058B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E478EC-B1F4-40DF-A61F-35665300F9BF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272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70A7D0C-C8E2-4C60-ADC5-D6ED25B4CE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3E8A53F9-05C2-4330-9E81-2DCA7FEBEB77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DFD98649-121A-4A53-82EA-41BE1540DA05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CSOMAGFELADÁS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442DA8-76BF-4B77-A79B-86FAA5ADB99B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334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Az űrlapban backend-adatokból lesz érthető felhasználói döntés.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265C4-AE33-41DB-A763-0E5B9A814A3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7145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1F67E-A9AC-439D-95BE-29F5F1DAF4F7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Címadatok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B2EE1-D942-4CE5-87DA-F4B1612DA7EA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ország -&gt; város -&gt; cím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B47ED-D901-4739-BEB8-3C30356518B2}"/>
              </a:ext>
            </a:extLst>
          </p:cNvPr>
          <p:cNvSpPr>
            <a:spLocks noGrp="1"/>
          </p:cNvSpPr>
          <p:nvPr/>
        </p:nvSpPr>
        <p:spPr>
          <a:xfrm>
            <a:off x="2857500" y="2038350"/>
            <a:ext cx="1905000" cy="990600"/>
          </a:xfrm>
          <a:prstGeom prst="rect">
            <a:avLst/>
          </a:prstGeom>
          <a:solidFill>
            <a:srgbClr val="DDF5F1"/>
          </a:solidFill>
          <a:ln w="9525">
            <a:solidFill>
              <a:srgbClr val="0C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5867D0-CF1C-4763-9BAC-16E115872016}"/>
              </a:ext>
            </a:extLst>
          </p:cNvPr>
          <p:cNvSpPr>
            <a:spLocks noGrp="1"/>
          </p:cNvSpPr>
          <p:nvPr/>
        </p:nvSpPr>
        <p:spPr>
          <a:xfrm>
            <a:off x="3028950" y="219075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Geokódolás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02A6C-B30D-4043-B843-B7E845B9EC89}"/>
              </a:ext>
            </a:extLst>
          </p:cNvPr>
          <p:cNvSpPr>
            <a:spLocks noGrp="1"/>
          </p:cNvSpPr>
          <p:nvPr/>
        </p:nvSpPr>
        <p:spPr>
          <a:xfrm>
            <a:off x="3028950" y="2495550"/>
            <a:ext cx="1562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Nominatim keresés és Leaflet pin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5DCD3-EA63-405C-8673-A2D29AB63CE6}"/>
              </a:ext>
            </a:extLst>
          </p:cNvPr>
          <p:cNvSpPr>
            <a:spLocks noGrp="1"/>
          </p:cNvSpPr>
          <p:nvPr/>
        </p:nvSpPr>
        <p:spPr>
          <a:xfrm>
            <a:off x="5295900" y="2038350"/>
            <a:ext cx="2095500" cy="990600"/>
          </a:xfrm>
          <a:prstGeom prst="rect">
            <a:avLst/>
          </a:prstGeom>
          <a:solidFill>
            <a:srgbClr val="E9EEFF"/>
          </a:solidFill>
          <a:ln w="9525">
            <a:solidFill>
              <a:srgbClr val="395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878B98-34C8-4862-8F2C-BA526F23B947}"/>
              </a:ext>
            </a:extLst>
          </p:cNvPr>
          <p:cNvSpPr>
            <a:spLocks noGrp="1"/>
          </p:cNvSpPr>
          <p:nvPr/>
        </p:nvSpPr>
        <p:spPr>
          <a:xfrm>
            <a:off x="5467350" y="21907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Csomagméret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73B75A-6689-463E-9BA5-7D1C11FD64B4}"/>
              </a:ext>
            </a:extLst>
          </p:cNvPr>
          <p:cNvSpPr>
            <a:spLocks noGrp="1"/>
          </p:cNvSpPr>
          <p:nvPr/>
        </p:nvSpPr>
        <p:spPr>
          <a:xfrm>
            <a:off x="5467350" y="2495550"/>
            <a:ext cx="1752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csak a választott országpárhoz elérhető méretek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735BB9-3AE3-4928-8B5F-6E9390DEB2E4}"/>
              </a:ext>
            </a:extLst>
          </p:cNvPr>
          <p:cNvSpPr>
            <a:spLocks noGrp="1"/>
          </p:cNvSpPr>
          <p:nvPr/>
        </p:nvSpPr>
        <p:spPr>
          <a:xfrm>
            <a:off x="7924800" y="2038350"/>
            <a:ext cx="1809750" cy="990600"/>
          </a:xfrm>
          <a:prstGeom prst="rect">
            <a:avLst/>
          </a:prstGeom>
          <a:solidFill>
            <a:srgbClr val="F7E7C8"/>
          </a:solidFill>
          <a:ln w="9525">
            <a:solidFill>
              <a:srgbClr val="D99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20D24E-ABE0-46B3-A012-DEB56952CEB2}"/>
              </a:ext>
            </a:extLst>
          </p:cNvPr>
          <p:cNvSpPr>
            <a:spLocks noGrp="1"/>
          </p:cNvSpPr>
          <p:nvPr/>
        </p:nvSpPr>
        <p:spPr>
          <a:xfrm>
            <a:off x="8096250" y="219075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Díjlogika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1F925B-3259-40C5-B506-5BDD85107845}"/>
              </a:ext>
            </a:extLst>
          </p:cNvPr>
          <p:cNvSpPr>
            <a:spLocks noGrp="1"/>
          </p:cNvSpPr>
          <p:nvPr/>
        </p:nvSpPr>
        <p:spPr>
          <a:xfrm>
            <a:off x="8096250" y="2495550"/>
            <a:ext cx="1466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CountryPrice + PackageSize alapján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F0BC7E-5623-47B6-BC15-5C262EA4E982}"/>
              </a:ext>
            </a:extLst>
          </p:cNvPr>
          <p:cNvSpPr>
            <a:spLocks noGrp="1"/>
          </p:cNvSpPr>
          <p:nvPr/>
        </p:nvSpPr>
        <p:spPr>
          <a:xfrm>
            <a:off x="10191750" y="2038350"/>
            <a:ext cx="14287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90BDFF-81F0-46DE-99A7-E9FB2A357BA5}"/>
              </a:ext>
            </a:extLst>
          </p:cNvPr>
          <p:cNvSpPr>
            <a:spLocks noGrp="1"/>
          </p:cNvSpPr>
          <p:nvPr/>
        </p:nvSpPr>
        <p:spPr>
          <a:xfrm>
            <a:off x="10363200" y="21907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Feladás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1D4375-1502-4EE3-8B1A-CC1C9B413112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10858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validált shipment payload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9C152A-47DB-4D67-AAF4-B4A17BB1CADE}"/>
              </a:ext>
            </a:extLst>
          </p:cNvPr>
          <p:cNvSpPr>
            <a:spLocks noGrp="1"/>
          </p:cNvSpPr>
          <p:nvPr/>
        </p:nvSpPr>
        <p:spPr>
          <a:xfrm>
            <a:off x="2324100" y="2533650"/>
            <a:ext cx="3238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4BEAD1-0768-476E-B067-06037DDE59D3}"/>
              </a:ext>
            </a:extLst>
          </p:cNvPr>
          <p:cNvSpPr>
            <a:spLocks noGrp="1"/>
          </p:cNvSpPr>
          <p:nvPr/>
        </p:nvSpPr>
        <p:spPr>
          <a:xfrm>
            <a:off x="2647950" y="24098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4B1021-FCEF-47C1-87AA-EDA1DC4CBA93}"/>
              </a:ext>
            </a:extLst>
          </p:cNvPr>
          <p:cNvSpPr>
            <a:spLocks noGrp="1"/>
          </p:cNvSpPr>
          <p:nvPr/>
        </p:nvSpPr>
        <p:spPr>
          <a:xfrm>
            <a:off x="4762500" y="2533650"/>
            <a:ext cx="3238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B96C79-CFC7-48AB-A759-F2FAFF2AC89B}"/>
              </a:ext>
            </a:extLst>
          </p:cNvPr>
          <p:cNvSpPr>
            <a:spLocks noGrp="1"/>
          </p:cNvSpPr>
          <p:nvPr/>
        </p:nvSpPr>
        <p:spPr>
          <a:xfrm>
            <a:off x="5086350" y="24098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58FB84-240E-40B7-A97A-CB9F86F48900}"/>
              </a:ext>
            </a:extLst>
          </p:cNvPr>
          <p:cNvSpPr>
            <a:spLocks noGrp="1"/>
          </p:cNvSpPr>
          <p:nvPr/>
        </p:nvSpPr>
        <p:spPr>
          <a:xfrm>
            <a:off x="7391400" y="2533650"/>
            <a:ext cx="3238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D1DFE3-8928-498A-BBA1-F826E729E12E}"/>
              </a:ext>
            </a:extLst>
          </p:cNvPr>
          <p:cNvSpPr>
            <a:spLocks noGrp="1"/>
          </p:cNvSpPr>
          <p:nvPr/>
        </p:nvSpPr>
        <p:spPr>
          <a:xfrm>
            <a:off x="7715250" y="24098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36732B-6D32-4B04-A881-6407974BF91A}"/>
              </a:ext>
            </a:extLst>
          </p:cNvPr>
          <p:cNvSpPr>
            <a:spLocks noGrp="1"/>
          </p:cNvSpPr>
          <p:nvPr/>
        </p:nvSpPr>
        <p:spPr>
          <a:xfrm>
            <a:off x="9734550" y="2533650"/>
            <a:ext cx="2476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9B5448-006A-4D6A-90FB-1A408EABE469}"/>
              </a:ext>
            </a:extLst>
          </p:cNvPr>
          <p:cNvSpPr>
            <a:spLocks noGrp="1"/>
          </p:cNvSpPr>
          <p:nvPr/>
        </p:nvSpPr>
        <p:spPr>
          <a:xfrm>
            <a:off x="9982200" y="24098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8768AA-13AA-4FFB-8EB7-A33D5A2E2C47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5334000" cy="1562100"/>
          </a:xfrm>
          <a:prstGeom prst="rect">
            <a:avLst/>
          </a:prstGeom>
          <a:solidFill>
            <a:srgbClr val="132235"/>
          </a:solidFill>
          <a:ln w="9525">
            <a:solidFill>
              <a:srgbClr val="13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56579E-B67F-4161-A8E9-8CEC379B2EB0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49911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const selectedCountryPrice = countryPrices.find(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(countryPrice) =&gt;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  countryPrice.originCountryId === originCountryId &amp;&amp;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  countryPrice.destinationCountryId === destinationCountryId &amp;&amp;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  countryPrice.packageSizeId === packageDetailsValue.sizeId,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ACA584-7EA3-4636-AD9D-160CD8FBBA84}"/>
              </a:ext>
            </a:extLst>
          </p:cNvPr>
          <p:cNvSpPr>
            <a:spLocks noGrp="1"/>
          </p:cNvSpPr>
          <p:nvPr/>
        </p:nvSpPr>
        <p:spPr>
          <a:xfrm>
            <a:off x="6629400" y="3714750"/>
            <a:ext cx="409575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CA3698-4A05-470D-8525-5D66EC2BD71B}"/>
              </a:ext>
            </a:extLst>
          </p:cNvPr>
          <p:cNvSpPr>
            <a:spLocks noGrp="1"/>
          </p:cNvSpPr>
          <p:nvPr/>
        </p:nvSpPr>
        <p:spPr>
          <a:xfrm>
            <a:off x="6896100" y="39624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Tervezési döntés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407732-A82A-4868-9F65-D47A3467E609}"/>
              </a:ext>
            </a:extLst>
          </p:cNvPr>
          <p:cNvSpPr>
            <a:spLocks noGrp="1"/>
          </p:cNvSpPr>
          <p:nvPr/>
        </p:nvSpPr>
        <p:spPr>
          <a:xfrm>
            <a:off x="6896100" y="4381500"/>
            <a:ext cx="3429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A UI nem enged “rossz” csomagméretet választani: az elérhetőség a lekért országpár-árakból következik, és ha változik az útvonal, a választás is újraértékelődik.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EC4ADF-5D80-4CBE-BF29-04E1E860CA52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110E76-EFCF-4946-998D-92E0316D79CF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008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CE61C6F5-0A11-41CA-80EA-EEB4506864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39818526-EF01-453A-B7A9-DBE0A3AF648D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4F712952-E2A7-4762-9F9C-02CD30E4B966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LOGISZTIKAI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D61CF-E6A9-4BE0-8EE2-9F0B4CBCC02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620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logisztikai portál az operációs törzsadatokat kezelhetővé teszi.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3BD87A-AE37-4FB4-BCB5-EFF832B41FF3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2095500" cy="438150"/>
          </a:xfrm>
          <a:prstGeom prst="rect">
            <a:avLst/>
          </a:prstGeom>
          <a:solidFill>
            <a:srgbClr val="102032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AE47F-44A9-4F0B-8D0A-3D23C97DAEEB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Entitás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B8CB2-938A-4EBC-8BD0-C7A59A0B4B6A}"/>
              </a:ext>
            </a:extLst>
          </p:cNvPr>
          <p:cNvSpPr>
            <a:spLocks noGrp="1"/>
          </p:cNvSpPr>
          <p:nvPr/>
        </p:nvSpPr>
        <p:spPr>
          <a:xfrm>
            <a:off x="3009900" y="1885950"/>
            <a:ext cx="1619250" cy="438150"/>
          </a:xfrm>
          <a:prstGeom prst="rect">
            <a:avLst/>
          </a:prstGeom>
          <a:solidFill>
            <a:srgbClr val="395AEF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FBF85-02EF-4044-A851-DDBACF1F7628}"/>
              </a:ext>
            </a:extLst>
          </p:cNvPr>
          <p:cNvSpPr>
            <a:spLocks noGrp="1"/>
          </p:cNvSpPr>
          <p:nvPr/>
        </p:nvSpPr>
        <p:spPr>
          <a:xfrm>
            <a:off x="3124200" y="20193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F8409-4F52-453A-9482-59DB8F7B19E8}"/>
              </a:ext>
            </a:extLst>
          </p:cNvPr>
          <p:cNvSpPr>
            <a:spLocks noGrp="1"/>
          </p:cNvSpPr>
          <p:nvPr/>
        </p:nvSpPr>
        <p:spPr>
          <a:xfrm>
            <a:off x="4629150" y="1885950"/>
            <a:ext cx="1619250" cy="438150"/>
          </a:xfrm>
          <a:prstGeom prst="rect">
            <a:avLst/>
          </a:prstGeom>
          <a:solidFill>
            <a:srgbClr val="395AEF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A861D1-B5F3-44C3-AC9C-05E27FE1DABB}"/>
              </a:ext>
            </a:extLst>
          </p:cNvPr>
          <p:cNvSpPr>
            <a:spLocks noGrp="1"/>
          </p:cNvSpPr>
          <p:nvPr/>
        </p:nvSpPr>
        <p:spPr>
          <a:xfrm>
            <a:off x="4743450" y="20193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Létrehozás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110DDB-B629-4232-A0D7-F202FD9CE64D}"/>
              </a:ext>
            </a:extLst>
          </p:cNvPr>
          <p:cNvSpPr>
            <a:spLocks noGrp="1"/>
          </p:cNvSpPr>
          <p:nvPr/>
        </p:nvSpPr>
        <p:spPr>
          <a:xfrm>
            <a:off x="6248400" y="1885950"/>
            <a:ext cx="1619250" cy="438150"/>
          </a:xfrm>
          <a:prstGeom prst="rect">
            <a:avLst/>
          </a:prstGeom>
          <a:solidFill>
            <a:srgbClr val="395AEF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70DF96-4A76-48BC-AD7D-DF5D03AB90FE}"/>
              </a:ext>
            </a:extLst>
          </p:cNvPr>
          <p:cNvSpPr>
            <a:spLocks noGrp="1"/>
          </p:cNvSpPr>
          <p:nvPr/>
        </p:nvSpPr>
        <p:spPr>
          <a:xfrm>
            <a:off x="6362700" y="20193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Szerkesztés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F5FE02-A75E-42DD-9D4E-3F7EEE5533F6}"/>
              </a:ext>
            </a:extLst>
          </p:cNvPr>
          <p:cNvSpPr>
            <a:spLocks noGrp="1"/>
          </p:cNvSpPr>
          <p:nvPr/>
        </p:nvSpPr>
        <p:spPr>
          <a:xfrm>
            <a:off x="7867650" y="1885950"/>
            <a:ext cx="1619250" cy="438150"/>
          </a:xfrm>
          <a:prstGeom prst="rect">
            <a:avLst/>
          </a:prstGeom>
          <a:solidFill>
            <a:srgbClr val="395AEF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FB3C27-590F-4D11-B6A0-724AD177B9AE}"/>
              </a:ext>
            </a:extLst>
          </p:cNvPr>
          <p:cNvSpPr>
            <a:spLocks noGrp="1"/>
          </p:cNvSpPr>
          <p:nvPr/>
        </p:nvSpPr>
        <p:spPr>
          <a:xfrm>
            <a:off x="7981950" y="20193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Részletek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D051AF-D5EB-46D2-9421-5BE635CC458D}"/>
              </a:ext>
            </a:extLst>
          </p:cNvPr>
          <p:cNvSpPr>
            <a:spLocks noGrp="1"/>
          </p:cNvSpPr>
          <p:nvPr/>
        </p:nvSpPr>
        <p:spPr>
          <a:xfrm>
            <a:off x="9486900" y="1885950"/>
            <a:ext cx="1619250" cy="438150"/>
          </a:xfrm>
          <a:prstGeom prst="rect">
            <a:avLst/>
          </a:prstGeom>
          <a:solidFill>
            <a:srgbClr val="395AEF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920F3-9D04-43F6-8FB7-603186C4C1EE}"/>
              </a:ext>
            </a:extLst>
          </p:cNvPr>
          <p:cNvSpPr>
            <a:spLocks noGrp="1"/>
          </p:cNvSpPr>
          <p:nvPr/>
        </p:nvSpPr>
        <p:spPr>
          <a:xfrm>
            <a:off x="9601200" y="2019300"/>
            <a:ext cx="139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Művelet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68B02-9ABE-40D7-85D8-78CE794FE84C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7B00ED-2F5F-4585-B65C-D46435656B48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Depó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512851-EB3B-45F9-89D3-82CA8F256DAC}"/>
              </a:ext>
            </a:extLst>
          </p:cNvPr>
          <p:cNvSpPr>
            <a:spLocks noGrp="1"/>
          </p:cNvSpPr>
          <p:nvPr/>
        </p:nvSpPr>
        <p:spPr>
          <a:xfrm>
            <a:off x="3009900" y="23241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38106-81D1-48A0-B188-B60055B33838}"/>
              </a:ext>
            </a:extLst>
          </p:cNvPr>
          <p:cNvSpPr>
            <a:spLocks noGrp="1"/>
          </p:cNvSpPr>
          <p:nvPr/>
        </p:nvSpPr>
        <p:spPr>
          <a:xfrm>
            <a:off x="3124200" y="24955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DataTable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764704-B216-4982-A126-75D347FCAD72}"/>
              </a:ext>
            </a:extLst>
          </p:cNvPr>
          <p:cNvSpPr>
            <a:spLocks noGrp="1"/>
          </p:cNvSpPr>
          <p:nvPr/>
        </p:nvSpPr>
        <p:spPr>
          <a:xfrm>
            <a:off x="4629150" y="23241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110018-2BF8-4CE0-8CE8-0D36537697B4}"/>
              </a:ext>
            </a:extLst>
          </p:cNvPr>
          <p:cNvSpPr>
            <a:spLocks noGrp="1"/>
          </p:cNvSpPr>
          <p:nvPr/>
        </p:nvSpPr>
        <p:spPr>
          <a:xfrm>
            <a:off x="4743450" y="24955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D873C6-C4C4-4A0C-980F-9F0708CBD1DE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899388-D9FC-4495-964A-854D5D216ED0}"/>
              </a:ext>
            </a:extLst>
          </p:cNvPr>
          <p:cNvSpPr>
            <a:spLocks noGrp="1"/>
          </p:cNvSpPr>
          <p:nvPr/>
        </p:nvSpPr>
        <p:spPr>
          <a:xfrm>
            <a:off x="6362700" y="24955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CE081A-AA7F-480D-BDC5-8C93DD7F1D65}"/>
              </a:ext>
            </a:extLst>
          </p:cNvPr>
          <p:cNvSpPr>
            <a:spLocks noGrp="1"/>
          </p:cNvSpPr>
          <p:nvPr/>
        </p:nvSpPr>
        <p:spPr>
          <a:xfrm>
            <a:off x="7867650" y="23241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CEBDEA-CCD1-433A-B944-F67D26AF6BD9}"/>
              </a:ext>
            </a:extLst>
          </p:cNvPr>
          <p:cNvSpPr>
            <a:spLocks noGrp="1"/>
          </p:cNvSpPr>
          <p:nvPr/>
        </p:nvSpPr>
        <p:spPr>
          <a:xfrm>
            <a:off x="7981950" y="24955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detail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947302-5F14-4A89-B9A2-68E32F095849}"/>
              </a:ext>
            </a:extLst>
          </p:cNvPr>
          <p:cNvSpPr>
            <a:spLocks noGrp="1"/>
          </p:cNvSpPr>
          <p:nvPr/>
        </p:nvSpPr>
        <p:spPr>
          <a:xfrm>
            <a:off x="9486900" y="23241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98B1A1-95C7-4E9F-9D6C-E8A8EA8DA513}"/>
              </a:ext>
            </a:extLst>
          </p:cNvPr>
          <p:cNvSpPr>
            <a:spLocks noGrp="1"/>
          </p:cNvSpPr>
          <p:nvPr/>
        </p:nvSpPr>
        <p:spPr>
          <a:xfrm>
            <a:off x="9601200" y="24955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tervezés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9B648D-2E25-496F-A80C-2E9628F81866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D943EC-B454-4C0F-A757-D911370804B5}"/>
              </a:ext>
            </a:extLst>
          </p:cNvPr>
          <p:cNvSpPr>
            <a:spLocks noGrp="1"/>
          </p:cNvSpPr>
          <p:nvPr/>
        </p:nvSpPr>
        <p:spPr>
          <a:xfrm>
            <a:off x="1028700" y="304800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Futár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D3D809-F13C-4F65-868A-2D8FD03EF4DA}"/>
              </a:ext>
            </a:extLst>
          </p:cNvPr>
          <p:cNvSpPr>
            <a:spLocks noGrp="1"/>
          </p:cNvSpPr>
          <p:nvPr/>
        </p:nvSpPr>
        <p:spPr>
          <a:xfrm>
            <a:off x="3009900" y="28765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40E1FB-0DCD-4187-9108-EAC6F1927C3E}"/>
              </a:ext>
            </a:extLst>
          </p:cNvPr>
          <p:cNvSpPr>
            <a:spLocks noGrp="1"/>
          </p:cNvSpPr>
          <p:nvPr/>
        </p:nvSpPr>
        <p:spPr>
          <a:xfrm>
            <a:off x="3124200" y="30480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DataTable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D6290D-3062-43E8-B354-908A5C1DD83D}"/>
              </a:ext>
            </a:extLst>
          </p:cNvPr>
          <p:cNvSpPr>
            <a:spLocks noGrp="1"/>
          </p:cNvSpPr>
          <p:nvPr/>
        </p:nvSpPr>
        <p:spPr>
          <a:xfrm>
            <a:off x="4629150" y="28765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570BA2-AE21-4CBF-908E-0334725E0729}"/>
              </a:ext>
            </a:extLst>
          </p:cNvPr>
          <p:cNvSpPr>
            <a:spLocks noGrp="1"/>
          </p:cNvSpPr>
          <p:nvPr/>
        </p:nvSpPr>
        <p:spPr>
          <a:xfrm>
            <a:off x="4743450" y="30480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CEFF8E-8939-4C6A-8BA5-DA4E007CAA53}"/>
              </a:ext>
            </a:extLst>
          </p:cNvPr>
          <p:cNvSpPr>
            <a:spLocks noGrp="1"/>
          </p:cNvSpPr>
          <p:nvPr/>
        </p:nvSpPr>
        <p:spPr>
          <a:xfrm>
            <a:off x="6248400" y="28765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A1F63ED-E6B3-478C-93EC-9E9CA163F731}"/>
              </a:ext>
            </a:extLst>
          </p:cNvPr>
          <p:cNvSpPr>
            <a:spLocks noGrp="1"/>
          </p:cNvSpPr>
          <p:nvPr/>
        </p:nvSpPr>
        <p:spPr>
          <a:xfrm>
            <a:off x="6362700" y="30480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2F9FE-7B58-4633-B4DC-524E1B9D4F71}"/>
              </a:ext>
            </a:extLst>
          </p:cNvPr>
          <p:cNvSpPr>
            <a:spLocks noGrp="1"/>
          </p:cNvSpPr>
          <p:nvPr/>
        </p:nvSpPr>
        <p:spPr>
          <a:xfrm>
            <a:off x="7867650" y="2876550"/>
            <a:ext cx="1619250" cy="552450"/>
          </a:xfrm>
          <a:prstGeom prst="rect">
            <a:avLst/>
          </a:prstGeom>
          <a:solidFill>
            <a:srgbClr val="EFE8DC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683C04-344E-455D-9B69-A0A732E3B470}"/>
              </a:ext>
            </a:extLst>
          </p:cNvPr>
          <p:cNvSpPr>
            <a:spLocks noGrp="1"/>
          </p:cNvSpPr>
          <p:nvPr/>
        </p:nvSpPr>
        <p:spPr>
          <a:xfrm>
            <a:off x="7981950" y="30480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A093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09384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C02D10-DE56-4FF7-8081-8F15296015AF}"/>
              </a:ext>
            </a:extLst>
          </p:cNvPr>
          <p:cNvSpPr>
            <a:spLocks noGrp="1"/>
          </p:cNvSpPr>
          <p:nvPr/>
        </p:nvSpPr>
        <p:spPr>
          <a:xfrm>
            <a:off x="9486900" y="28765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EEE67C-509C-4242-8B07-A30298906661}"/>
              </a:ext>
            </a:extLst>
          </p:cNvPr>
          <p:cNvSpPr>
            <a:spLocks noGrp="1"/>
          </p:cNvSpPr>
          <p:nvPr/>
        </p:nvSpPr>
        <p:spPr>
          <a:xfrm>
            <a:off x="9601200" y="30480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kapacitás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EB388A-26B2-49CB-84C2-D9C4A4C9C315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063477-F83F-4EC4-AE0B-E67F06C81E95}"/>
              </a:ext>
            </a:extLst>
          </p:cNvPr>
          <p:cNvSpPr>
            <a:spLocks noGrp="1"/>
          </p:cNvSpPr>
          <p:nvPr/>
        </p:nvSpPr>
        <p:spPr>
          <a:xfrm>
            <a:off x="1028700" y="36004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Régió/ország/város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35F76F-179B-4A70-8EE4-AFD557558014}"/>
              </a:ext>
            </a:extLst>
          </p:cNvPr>
          <p:cNvSpPr>
            <a:spLocks noGrp="1"/>
          </p:cNvSpPr>
          <p:nvPr/>
        </p:nvSpPr>
        <p:spPr>
          <a:xfrm>
            <a:off x="3009900" y="34290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888D32-DF92-496A-981A-941394DE1AB9}"/>
              </a:ext>
            </a:extLst>
          </p:cNvPr>
          <p:cNvSpPr>
            <a:spLocks noGrp="1"/>
          </p:cNvSpPr>
          <p:nvPr/>
        </p:nvSpPr>
        <p:spPr>
          <a:xfrm>
            <a:off x="3124200" y="36004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DataTable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EA7E2C-110D-4408-9341-D9C25D2E9494}"/>
              </a:ext>
            </a:extLst>
          </p:cNvPr>
          <p:cNvSpPr>
            <a:spLocks noGrp="1"/>
          </p:cNvSpPr>
          <p:nvPr/>
        </p:nvSpPr>
        <p:spPr>
          <a:xfrm>
            <a:off x="4629150" y="34290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1E1D96-C8DB-4002-B183-F82309E16D87}"/>
              </a:ext>
            </a:extLst>
          </p:cNvPr>
          <p:cNvSpPr>
            <a:spLocks noGrp="1"/>
          </p:cNvSpPr>
          <p:nvPr/>
        </p:nvSpPr>
        <p:spPr>
          <a:xfrm>
            <a:off x="4743450" y="36004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F47FACD-9BA1-4B87-8374-65ECF9E2D21E}"/>
              </a:ext>
            </a:extLst>
          </p:cNvPr>
          <p:cNvSpPr>
            <a:spLocks noGrp="1"/>
          </p:cNvSpPr>
          <p:nvPr/>
        </p:nvSpPr>
        <p:spPr>
          <a:xfrm>
            <a:off x="6248400" y="34290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E2393C2-A93E-4E38-A5D1-34BCE1EBD2D2}"/>
              </a:ext>
            </a:extLst>
          </p:cNvPr>
          <p:cNvSpPr>
            <a:spLocks noGrp="1"/>
          </p:cNvSpPr>
          <p:nvPr/>
        </p:nvSpPr>
        <p:spPr>
          <a:xfrm>
            <a:off x="6362700" y="36004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F5ED93D-E57D-49B1-9DF2-72C8B4F40206}"/>
              </a:ext>
            </a:extLst>
          </p:cNvPr>
          <p:cNvSpPr>
            <a:spLocks noGrp="1"/>
          </p:cNvSpPr>
          <p:nvPr/>
        </p:nvSpPr>
        <p:spPr>
          <a:xfrm>
            <a:off x="7867650" y="3429000"/>
            <a:ext cx="1619250" cy="552450"/>
          </a:xfrm>
          <a:prstGeom prst="rect">
            <a:avLst/>
          </a:prstGeom>
          <a:solidFill>
            <a:srgbClr val="EFE8DC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D66CBE-6E13-4FC0-A5EA-EC4B742ADFAA}"/>
              </a:ext>
            </a:extLst>
          </p:cNvPr>
          <p:cNvSpPr>
            <a:spLocks noGrp="1"/>
          </p:cNvSpPr>
          <p:nvPr/>
        </p:nvSpPr>
        <p:spPr>
          <a:xfrm>
            <a:off x="7981950" y="36004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A093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09384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E3A3C6-01AB-4507-9421-B0D2258F0D6D}"/>
              </a:ext>
            </a:extLst>
          </p:cNvPr>
          <p:cNvSpPr>
            <a:spLocks noGrp="1"/>
          </p:cNvSpPr>
          <p:nvPr/>
        </p:nvSpPr>
        <p:spPr>
          <a:xfrm>
            <a:off x="9486900" y="34290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5AF733-0FAF-4437-BE26-983F283BEFF8}"/>
              </a:ext>
            </a:extLst>
          </p:cNvPr>
          <p:cNvSpPr>
            <a:spLocks noGrp="1"/>
          </p:cNvSpPr>
          <p:nvPr/>
        </p:nvSpPr>
        <p:spPr>
          <a:xfrm>
            <a:off x="9601200" y="36004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szűrés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1B99B0-6442-4BE8-9445-EDC78BF96452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D8D53A-A091-4AF4-A6D9-5F6C64FBB881}"/>
              </a:ext>
            </a:extLst>
          </p:cNvPr>
          <p:cNvSpPr>
            <a:spLocks noGrp="1"/>
          </p:cNvSpPr>
          <p:nvPr/>
        </p:nvSpPr>
        <p:spPr>
          <a:xfrm>
            <a:off x="1028700" y="415290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Csomagméret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BD2E98-F01F-4E45-8F20-A9A5AD2D8538}"/>
              </a:ext>
            </a:extLst>
          </p:cNvPr>
          <p:cNvSpPr>
            <a:spLocks noGrp="1"/>
          </p:cNvSpPr>
          <p:nvPr/>
        </p:nvSpPr>
        <p:spPr>
          <a:xfrm>
            <a:off x="3009900" y="39814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0C78A7-4976-45E9-807D-E3BD2ED9511E}"/>
              </a:ext>
            </a:extLst>
          </p:cNvPr>
          <p:cNvSpPr>
            <a:spLocks noGrp="1"/>
          </p:cNvSpPr>
          <p:nvPr/>
        </p:nvSpPr>
        <p:spPr>
          <a:xfrm>
            <a:off x="3124200" y="41529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DataTable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9A68C59-CA2A-415B-91AD-B09D298F64C8}"/>
              </a:ext>
            </a:extLst>
          </p:cNvPr>
          <p:cNvSpPr>
            <a:spLocks noGrp="1"/>
          </p:cNvSpPr>
          <p:nvPr/>
        </p:nvSpPr>
        <p:spPr>
          <a:xfrm>
            <a:off x="4629150" y="39814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FD9BE8-3B5B-4DAB-96AC-1A70DBFB6128}"/>
              </a:ext>
            </a:extLst>
          </p:cNvPr>
          <p:cNvSpPr>
            <a:spLocks noGrp="1"/>
          </p:cNvSpPr>
          <p:nvPr/>
        </p:nvSpPr>
        <p:spPr>
          <a:xfrm>
            <a:off x="4743450" y="41529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FDA1E18-3AE4-46A1-9AD8-46EF6F5C54C3}"/>
              </a:ext>
            </a:extLst>
          </p:cNvPr>
          <p:cNvSpPr>
            <a:spLocks noGrp="1"/>
          </p:cNvSpPr>
          <p:nvPr/>
        </p:nvSpPr>
        <p:spPr>
          <a:xfrm>
            <a:off x="6248400" y="39814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EE4C535-D9DA-4FE6-B7C0-8482B9CC0142}"/>
              </a:ext>
            </a:extLst>
          </p:cNvPr>
          <p:cNvSpPr>
            <a:spLocks noGrp="1"/>
          </p:cNvSpPr>
          <p:nvPr/>
        </p:nvSpPr>
        <p:spPr>
          <a:xfrm>
            <a:off x="6362700" y="41529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4F2EF3-8C7F-4CF3-903A-6DDA5449E8B8}"/>
              </a:ext>
            </a:extLst>
          </p:cNvPr>
          <p:cNvSpPr>
            <a:spLocks noGrp="1"/>
          </p:cNvSpPr>
          <p:nvPr/>
        </p:nvSpPr>
        <p:spPr>
          <a:xfrm>
            <a:off x="7867650" y="3981450"/>
            <a:ext cx="1619250" cy="552450"/>
          </a:xfrm>
          <a:prstGeom prst="rect">
            <a:avLst/>
          </a:prstGeom>
          <a:solidFill>
            <a:srgbClr val="EFE8DC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2A8A42C-4E01-4150-90B2-0CB307DE95DE}"/>
              </a:ext>
            </a:extLst>
          </p:cNvPr>
          <p:cNvSpPr>
            <a:spLocks noGrp="1"/>
          </p:cNvSpPr>
          <p:nvPr/>
        </p:nvSpPr>
        <p:spPr>
          <a:xfrm>
            <a:off x="7981950" y="41529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A093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09384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757492-E702-4884-933A-40470DFB7B85}"/>
              </a:ext>
            </a:extLst>
          </p:cNvPr>
          <p:cNvSpPr>
            <a:spLocks noGrp="1"/>
          </p:cNvSpPr>
          <p:nvPr/>
        </p:nvSpPr>
        <p:spPr>
          <a:xfrm>
            <a:off x="9486900" y="3981450"/>
            <a:ext cx="1619250" cy="552450"/>
          </a:xfrm>
          <a:prstGeom prst="rect">
            <a:avLst/>
          </a:prstGeom>
          <a:solidFill>
            <a:srgbClr val="FBF8F2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585F25A-58EC-4A8E-AB93-BD00E50964C6}"/>
              </a:ext>
            </a:extLst>
          </p:cNvPr>
          <p:cNvSpPr>
            <a:spLocks noGrp="1"/>
          </p:cNvSpPr>
          <p:nvPr/>
        </p:nvSpPr>
        <p:spPr>
          <a:xfrm>
            <a:off x="9601200" y="415290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díjszabás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05FB63-C4BD-4669-9EB4-445CE33CE726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001480-FF2B-4E14-AFF6-3A5016BAA805}"/>
              </a:ext>
            </a:extLst>
          </p:cNvPr>
          <p:cNvSpPr>
            <a:spLocks noGrp="1"/>
          </p:cNvSpPr>
          <p:nvPr/>
        </p:nvSpPr>
        <p:spPr>
          <a:xfrm>
            <a:off x="1028700" y="47053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Jármű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20DD57A-47A7-47F6-A3A8-937C43C5A02C}"/>
              </a:ext>
            </a:extLst>
          </p:cNvPr>
          <p:cNvSpPr>
            <a:spLocks noGrp="1"/>
          </p:cNvSpPr>
          <p:nvPr/>
        </p:nvSpPr>
        <p:spPr>
          <a:xfrm>
            <a:off x="3009900" y="45339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3664CD2-F2BB-4734-ADF2-CF4B3AC59C68}"/>
              </a:ext>
            </a:extLst>
          </p:cNvPr>
          <p:cNvSpPr>
            <a:spLocks noGrp="1"/>
          </p:cNvSpPr>
          <p:nvPr/>
        </p:nvSpPr>
        <p:spPr>
          <a:xfrm>
            <a:off x="3124200" y="47053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DataTable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F507192-CCEA-45C1-B5AA-AFF81EFD22D3}"/>
              </a:ext>
            </a:extLst>
          </p:cNvPr>
          <p:cNvSpPr>
            <a:spLocks noGrp="1"/>
          </p:cNvSpPr>
          <p:nvPr/>
        </p:nvSpPr>
        <p:spPr>
          <a:xfrm>
            <a:off x="4629150" y="45339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D3251DD-029D-4909-88AB-EB824F64F1B2}"/>
              </a:ext>
            </a:extLst>
          </p:cNvPr>
          <p:cNvSpPr>
            <a:spLocks noGrp="1"/>
          </p:cNvSpPr>
          <p:nvPr/>
        </p:nvSpPr>
        <p:spPr>
          <a:xfrm>
            <a:off x="4743450" y="47053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7D33064-65A2-47D6-A610-D160DE8E6D84}"/>
              </a:ext>
            </a:extLst>
          </p:cNvPr>
          <p:cNvSpPr>
            <a:spLocks noGrp="1"/>
          </p:cNvSpPr>
          <p:nvPr/>
        </p:nvSpPr>
        <p:spPr>
          <a:xfrm>
            <a:off x="6248400" y="45339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6E78276-FACD-4671-8241-4F2520EFBC56}"/>
              </a:ext>
            </a:extLst>
          </p:cNvPr>
          <p:cNvSpPr>
            <a:spLocks noGrp="1"/>
          </p:cNvSpPr>
          <p:nvPr/>
        </p:nvSpPr>
        <p:spPr>
          <a:xfrm>
            <a:off x="6362700" y="47053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D7D61E2-3630-4280-ADC3-73A020A2D4D9}"/>
              </a:ext>
            </a:extLst>
          </p:cNvPr>
          <p:cNvSpPr>
            <a:spLocks noGrp="1"/>
          </p:cNvSpPr>
          <p:nvPr/>
        </p:nvSpPr>
        <p:spPr>
          <a:xfrm>
            <a:off x="7867650" y="4533900"/>
            <a:ext cx="1619250" cy="552450"/>
          </a:xfrm>
          <a:prstGeom prst="rect">
            <a:avLst/>
          </a:prstGeom>
          <a:solidFill>
            <a:srgbClr val="EFE8DC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AB3D989-19E5-40A8-9205-AD3570F49017}"/>
              </a:ext>
            </a:extLst>
          </p:cNvPr>
          <p:cNvSpPr>
            <a:spLocks noGrp="1"/>
          </p:cNvSpPr>
          <p:nvPr/>
        </p:nvSpPr>
        <p:spPr>
          <a:xfrm>
            <a:off x="7981950" y="47053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A0938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09384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F07BCDB-4495-4090-94F7-E9EDA9DDC2A9}"/>
              </a:ext>
            </a:extLst>
          </p:cNvPr>
          <p:cNvSpPr>
            <a:spLocks noGrp="1"/>
          </p:cNvSpPr>
          <p:nvPr/>
        </p:nvSpPr>
        <p:spPr>
          <a:xfrm>
            <a:off x="9486900" y="45339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5C6F8A4-0E56-4BC5-BC7F-58823F172076}"/>
              </a:ext>
            </a:extLst>
          </p:cNvPr>
          <p:cNvSpPr>
            <a:spLocks noGrp="1"/>
          </p:cNvSpPr>
          <p:nvPr/>
        </p:nvSpPr>
        <p:spPr>
          <a:xfrm>
            <a:off x="9601200" y="4705350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flotta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56A5C25-16D5-49A3-BE91-7FC786B72A41}"/>
              </a:ext>
            </a:extLst>
          </p:cNvPr>
          <p:cNvSpPr>
            <a:spLocks noGrp="1"/>
          </p:cNvSpPr>
          <p:nvPr/>
        </p:nvSpPr>
        <p:spPr>
          <a:xfrm>
            <a:off x="1447800" y="5334000"/>
            <a:ext cx="8763000" cy="514350"/>
          </a:xfrm>
          <a:prstGeom prst="rect">
            <a:avLst/>
          </a:prstGeom>
          <a:solidFill>
            <a:srgbClr val="F7E7C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F4B1214-C2A0-4B63-893E-60BFA4D6F0F5}"/>
              </a:ext>
            </a:extLst>
          </p:cNvPr>
          <p:cNvSpPr>
            <a:spLocks noGrp="1"/>
          </p:cNvSpPr>
          <p:nvPr/>
        </p:nvSpPr>
        <p:spPr>
          <a:xfrm>
            <a:off x="1752600" y="54864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Bemutatáskor itt érdemes azt hangsúlyozni, hogy ugyanaz a CRUD-minta több entitásra konzisztensen újrahasználható.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E592CEF-CF25-4687-A12C-DF2ADD2C8CA4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41C797D-C64F-4F59-B1E6-A0AD1FF16104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7456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A0EC790-E229-4D3C-BBA7-7B45CFF756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96E3B299-6BAB-417C-AB95-B7142532011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3DBEC494-D495-4DFC-900F-C1ED6A5A99A2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FUTÁR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40F7D-69A4-40B3-9FF0-3D3DD0A1515F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953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futárportál napi munkamenetet ad a terepen használt felülethez.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9DB9C-7CC7-42E6-B9F8-38D2284A5F45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143250" cy="3848100"/>
          </a:xfrm>
          <a:prstGeom prst="rect">
            <a:avLst/>
          </a:prstGeom>
          <a:solidFill>
            <a:srgbClr val="102032"/>
          </a:solidFill>
          <a:ln w="9525">
            <a:solidFill>
              <a:srgbClr val="10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B71465-8D91-49F4-8E3A-0FD3817C6AE4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2609850" cy="3238500"/>
          </a:xfrm>
          <a:prstGeom prst="rect">
            <a:avLst/>
          </a:prstGeom>
          <a:solidFill>
            <a:srgbClr val="FDFBF6"/>
          </a:solidFill>
          <a:ln w="9525">
            <a:solidFill>
              <a:srgbClr val="FDFB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E69B9-3BB5-4456-92D8-0A3EAF5C180B}"/>
              </a:ext>
            </a:extLst>
          </p:cNvPr>
          <p:cNvSpPr>
            <a:spLocks noGrp="1"/>
          </p:cNvSpPr>
          <p:nvPr/>
        </p:nvSpPr>
        <p:spPr>
          <a:xfrm>
            <a:off x="1238250" y="23241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Mai kiosztások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3C48C0-2ACE-4F08-A8F5-A28339FAA5AF}"/>
              </a:ext>
            </a:extLst>
          </p:cNvPr>
          <p:cNvSpPr>
            <a:spLocks noGrp="1"/>
          </p:cNvSpPr>
          <p:nvPr/>
        </p:nvSpPr>
        <p:spPr>
          <a:xfrm>
            <a:off x="1238250" y="2800350"/>
            <a:ext cx="2095500" cy="609600"/>
          </a:xfrm>
          <a:prstGeom prst="rect">
            <a:avLst/>
          </a:prstGeom>
          <a:solidFill>
            <a:srgbClr val="DDF5F1"/>
          </a:solidFill>
          <a:ln w="9525">
            <a:solidFill>
              <a:srgbClr val="0C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AD610-F734-47B1-9663-9C373FD14502}"/>
              </a:ext>
            </a:extLst>
          </p:cNvPr>
          <p:cNvSpPr>
            <a:spLocks noGrp="1"/>
          </p:cNvSpPr>
          <p:nvPr/>
        </p:nvSpPr>
        <p:spPr>
          <a:xfrm>
            <a:off x="1409700" y="2990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Térkép + lista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556F7A-3E95-4D8B-9699-118F3DA50DA7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2095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38E63C-CF88-4AAD-ADAC-9675765EF219}"/>
              </a:ext>
            </a:extLst>
          </p:cNvPr>
          <p:cNvSpPr>
            <a:spLocks noGrp="1"/>
          </p:cNvSpPr>
          <p:nvPr/>
        </p:nvSpPr>
        <p:spPr>
          <a:xfrm>
            <a:off x="1409700" y="374332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C94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9488"/>
                </a:solidFill>
                <a:latin typeface="Aptos"/>
                <a:ea typeface="Aptos"/>
                <a:cs typeface="Aptos"/>
              </a:rPr>
              <a:t>Pickup: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732262-1B9C-4208-B404-54A3D6F69E5F}"/>
              </a:ext>
            </a:extLst>
          </p:cNvPr>
          <p:cNvSpPr>
            <a:spLocks noGrp="1"/>
          </p:cNvSpPr>
          <p:nvPr/>
        </p:nvSpPr>
        <p:spPr>
          <a:xfrm>
            <a:off x="2266950" y="3743325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Delivery: 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932385-40BA-46EB-ADEA-0C0530EEF8E5}"/>
              </a:ext>
            </a:extLst>
          </p:cNvPr>
          <p:cNvSpPr>
            <a:spLocks noGrp="1"/>
          </p:cNvSpPr>
          <p:nvPr/>
        </p:nvSpPr>
        <p:spPr>
          <a:xfrm>
            <a:off x="1238250" y="4248150"/>
            <a:ext cx="2095500" cy="533400"/>
          </a:xfrm>
          <a:prstGeom prst="rect">
            <a:avLst/>
          </a:prstGeom>
          <a:solidFill>
            <a:srgbClr val="395AEF"/>
          </a:solidFill>
          <a:ln w="9525">
            <a:solidFill>
              <a:srgbClr val="395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7D61F-6551-4C53-A2EC-85C4F06E7C79}"/>
              </a:ext>
            </a:extLst>
          </p:cNvPr>
          <p:cNvSpPr>
            <a:spLocks noGrp="1"/>
          </p:cNvSpPr>
          <p:nvPr/>
        </p:nvSpPr>
        <p:spPr>
          <a:xfrm>
            <a:off x="1428750" y="4419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Csomag részletek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447BCC-22C6-4BE0-96A2-16F01B025D63}"/>
              </a:ext>
            </a:extLst>
          </p:cNvPr>
          <p:cNvSpPr>
            <a:spLocks noGrp="1"/>
          </p:cNvSpPr>
          <p:nvPr/>
        </p:nvSpPr>
        <p:spPr>
          <a:xfrm>
            <a:off x="5048250" y="1943100"/>
            <a:ext cx="2381250" cy="1123950"/>
          </a:xfrm>
          <a:prstGeom prst="rect">
            <a:avLst/>
          </a:prstGeom>
          <a:solidFill>
            <a:srgbClr val="DDF5F1"/>
          </a:solidFill>
          <a:ln w="9525">
            <a:solidFill>
              <a:srgbClr val="0C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8A5A3D-E993-44D8-B8FE-7E0F92D1DEF2}"/>
              </a:ext>
            </a:extLst>
          </p:cNvPr>
          <p:cNvSpPr>
            <a:spLocks noGrp="1"/>
          </p:cNvSpPr>
          <p:nvPr/>
        </p:nvSpPr>
        <p:spPr>
          <a:xfrm>
            <a:off x="5219700" y="20955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Kiosztott csomagok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F66FD-EE01-412F-B520-CC20F34AB7C6}"/>
              </a:ext>
            </a:extLst>
          </p:cNvPr>
          <p:cNvSpPr>
            <a:spLocks noGrp="1"/>
          </p:cNvSpPr>
          <p:nvPr/>
        </p:nvSpPr>
        <p:spPr>
          <a:xfrm>
            <a:off x="5219700" y="2400300"/>
            <a:ext cx="2038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Lista és térkép ugyanabból a napi assignment adatból.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ACDDE8-9E5D-4288-9260-9185F231B3A7}"/>
              </a:ext>
            </a:extLst>
          </p:cNvPr>
          <p:cNvSpPr>
            <a:spLocks noGrp="1"/>
          </p:cNvSpPr>
          <p:nvPr/>
        </p:nvSpPr>
        <p:spPr>
          <a:xfrm>
            <a:off x="5048250" y="3562350"/>
            <a:ext cx="238125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99AFDC-A9FC-4594-942F-3F2D38C95E0C}"/>
              </a:ext>
            </a:extLst>
          </p:cNvPr>
          <p:cNvSpPr>
            <a:spLocks noGrp="1"/>
          </p:cNvSpPr>
          <p:nvPr/>
        </p:nvSpPr>
        <p:spPr>
          <a:xfrm>
            <a:off x="5219700" y="3714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Depó átvétel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1DD2C-9A8D-4FA8-A934-24E870AB216C}"/>
              </a:ext>
            </a:extLst>
          </p:cNvPr>
          <p:cNvSpPr>
            <a:spLocks noGrp="1"/>
          </p:cNvSpPr>
          <p:nvPr/>
        </p:nvSpPr>
        <p:spPr>
          <a:xfrm>
            <a:off x="5219700" y="4019550"/>
            <a:ext cx="20383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Várakozó delivery csomagok, tömeges felvétel, jármű-kapacitás.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C9EF8F-0B24-4FA6-82D9-AB37F7F020BA}"/>
              </a:ext>
            </a:extLst>
          </p:cNvPr>
          <p:cNvSpPr>
            <a:spLocks noGrp="1"/>
          </p:cNvSpPr>
          <p:nvPr/>
        </p:nvSpPr>
        <p:spPr>
          <a:xfrm>
            <a:off x="8324850" y="3562350"/>
            <a:ext cx="2381250" cy="1295400"/>
          </a:xfrm>
          <a:prstGeom prst="rect">
            <a:avLst/>
          </a:prstGeom>
          <a:solidFill>
            <a:srgbClr val="E9EEFF"/>
          </a:solidFill>
          <a:ln w="9525">
            <a:solidFill>
              <a:srgbClr val="395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4097A-CE7E-4FBA-B588-8090ED10C46F}"/>
              </a:ext>
            </a:extLst>
          </p:cNvPr>
          <p:cNvSpPr>
            <a:spLocks noGrp="1"/>
          </p:cNvSpPr>
          <p:nvPr/>
        </p:nvSpPr>
        <p:spPr>
          <a:xfrm>
            <a:off x="8496300" y="3714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Leadás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606626-5E1F-4230-A81B-FE8AB65B28E7}"/>
              </a:ext>
            </a:extLst>
          </p:cNvPr>
          <p:cNvSpPr>
            <a:spLocks noGrp="1"/>
          </p:cNvSpPr>
          <p:nvPr/>
        </p:nvSpPr>
        <p:spPr>
          <a:xfrm>
            <a:off x="8496300" y="4019550"/>
            <a:ext cx="20383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Felvett csomagok leadási jegyzéke és teljesítés.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A26DB4-BAF9-4844-AABF-614E6EE92345}"/>
              </a:ext>
            </a:extLst>
          </p:cNvPr>
          <p:cNvSpPr>
            <a:spLocks noGrp="1"/>
          </p:cNvSpPr>
          <p:nvPr/>
        </p:nvSpPr>
        <p:spPr>
          <a:xfrm>
            <a:off x="8324850" y="194310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24F4CB-610D-42CD-8DD6-9385A5CAC88E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Részletezés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789DEA-2068-4591-89CB-5E94F5714C87}"/>
              </a:ext>
            </a:extLst>
          </p:cNvPr>
          <p:cNvSpPr>
            <a:spLocks noGrp="1"/>
          </p:cNvSpPr>
          <p:nvPr/>
        </p:nvSpPr>
        <p:spPr>
          <a:xfrm>
            <a:off x="8496300" y="2400300"/>
            <a:ext cx="2038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Cím, útvonal, státusz és akciók assignment szinten.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17923E-4E85-4BD8-8A57-D45ED8C0C943}"/>
              </a:ext>
            </a:extLst>
          </p:cNvPr>
          <p:cNvSpPr>
            <a:spLocks noGrp="1"/>
          </p:cNvSpPr>
          <p:nvPr/>
        </p:nvSpPr>
        <p:spPr>
          <a:xfrm>
            <a:off x="7429500" y="2505075"/>
            <a:ext cx="6858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B00FFC-13B4-45DE-BB7D-1D4DB44A444E}"/>
              </a:ext>
            </a:extLst>
          </p:cNvPr>
          <p:cNvSpPr>
            <a:spLocks noGrp="1"/>
          </p:cNvSpPr>
          <p:nvPr/>
        </p:nvSpPr>
        <p:spPr>
          <a:xfrm>
            <a:off x="8115300" y="2381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A1A69C-046D-47A3-A1F6-813284B784FC}"/>
              </a:ext>
            </a:extLst>
          </p:cNvPr>
          <p:cNvSpPr>
            <a:spLocks noGrp="1"/>
          </p:cNvSpPr>
          <p:nvPr/>
        </p:nvSpPr>
        <p:spPr>
          <a:xfrm>
            <a:off x="6238875" y="3067050"/>
            <a:ext cx="20955" cy="3048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5876E3-932B-4D90-8E97-4BAD55600401}"/>
              </a:ext>
            </a:extLst>
          </p:cNvPr>
          <p:cNvSpPr>
            <a:spLocks noGrp="1"/>
          </p:cNvSpPr>
          <p:nvPr/>
        </p:nvSpPr>
        <p:spPr>
          <a:xfrm>
            <a:off x="6153150" y="33718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0FA927-B37C-4CFA-931C-1699801C90C3}"/>
              </a:ext>
            </a:extLst>
          </p:cNvPr>
          <p:cNvSpPr>
            <a:spLocks noGrp="1"/>
          </p:cNvSpPr>
          <p:nvPr/>
        </p:nvSpPr>
        <p:spPr>
          <a:xfrm>
            <a:off x="6353175" y="32575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felvétel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12E428-6A17-4979-961A-6D74609AA2C2}"/>
              </a:ext>
            </a:extLst>
          </p:cNvPr>
          <p:cNvSpPr>
            <a:spLocks noGrp="1"/>
          </p:cNvSpPr>
          <p:nvPr/>
        </p:nvSpPr>
        <p:spPr>
          <a:xfrm>
            <a:off x="7429500" y="4210050"/>
            <a:ext cx="6858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517E27-616C-4FE1-9062-BCCD4327AC4F}"/>
              </a:ext>
            </a:extLst>
          </p:cNvPr>
          <p:cNvSpPr>
            <a:spLocks noGrp="1"/>
          </p:cNvSpPr>
          <p:nvPr/>
        </p:nvSpPr>
        <p:spPr>
          <a:xfrm>
            <a:off x="8115300" y="40862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92CD9A-CF05-460C-B989-C27DBF8BB5E1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745C15-06F8-4594-AE6B-F5579DE22D52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958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944BEBA-73DE-4BB2-923B-E9AE69899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033A3D95-E023-42FD-BD32-740E37BD19BD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5009123A-76C1-4240-98F0-48799081C6C6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SHARED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F4B0BE-BB7D-439E-8249-9ED7E34A0AE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620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közös UI réteg csökkenti a következő képernyők fejlesztési költségét.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90356-EDAF-467E-A802-09DA4CEB9FD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762250" cy="2667000"/>
          </a:xfrm>
          <a:prstGeom prst="rect">
            <a:avLst/>
          </a:prstGeom>
          <a:solidFill>
            <a:srgbClr val="102032"/>
          </a:solidFill>
          <a:ln w="9525">
            <a:solidFill>
              <a:srgbClr val="10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06399A-5ACA-4AD4-AE88-9D0BCB75F007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Három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A05084-4A4F-4B51-AE2B-E4B13755CC12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2000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client-ui</a:t>
            </a:r>
          </a:p>
          <a:p>
            <a:pPr algn="l">
              <a:defRPr sz="180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logistics-ui</a:t>
            </a:r>
          </a:p>
          <a:p>
            <a:pPr algn="l">
              <a:defRPr sz="180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courier-ui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49FB3-5398-42F9-8078-05DE42E0F609}"/>
              </a:ext>
            </a:extLst>
          </p:cNvPr>
          <p:cNvSpPr>
            <a:spLocks noGrp="1"/>
          </p:cNvSpPr>
          <p:nvPr/>
        </p:nvSpPr>
        <p:spPr>
          <a:xfrm>
            <a:off x="4591050" y="1695450"/>
            <a:ext cx="2476500" cy="971550"/>
          </a:xfrm>
          <a:prstGeom prst="rect">
            <a:avLst/>
          </a:prstGeom>
          <a:solidFill>
            <a:srgbClr val="E9EEFF"/>
          </a:solidFill>
          <a:ln w="9525">
            <a:solidFill>
              <a:srgbClr val="395A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D361E4-7A2D-4605-BF23-8F43216DE622}"/>
              </a:ext>
            </a:extLst>
          </p:cNvPr>
          <p:cNvSpPr>
            <a:spLocks noGrp="1"/>
          </p:cNvSpPr>
          <p:nvPr/>
        </p:nvSpPr>
        <p:spPr>
          <a:xfrm>
            <a:off x="4762500" y="184785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PortalLayout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D6E7E-A555-479B-BA70-E5F273A8C0DD}"/>
              </a:ext>
            </a:extLst>
          </p:cNvPr>
          <p:cNvSpPr>
            <a:spLocks noGrp="1"/>
          </p:cNvSpPr>
          <p:nvPr/>
        </p:nvSpPr>
        <p:spPr>
          <a:xfrm>
            <a:off x="4762500" y="21526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SideNav + TopNav + BottomNav, responsive portál shell.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1872E2-B43F-46A2-8498-8EF01510995C}"/>
              </a:ext>
            </a:extLst>
          </p:cNvPr>
          <p:cNvSpPr>
            <a:spLocks noGrp="1"/>
          </p:cNvSpPr>
          <p:nvPr/>
        </p:nvSpPr>
        <p:spPr>
          <a:xfrm>
            <a:off x="4591050" y="2990850"/>
            <a:ext cx="2476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1E12C-35B6-4C15-80BD-90E8CD6C2C79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AuthProvider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593A41-49F0-4CBE-B043-F41EFF681D86}"/>
              </a:ext>
            </a:extLst>
          </p:cNvPr>
          <p:cNvSpPr>
            <a:spLocks noGrp="1"/>
          </p:cNvSpPr>
          <p:nvPr/>
        </p:nvSpPr>
        <p:spPr>
          <a:xfrm>
            <a:off x="4762500" y="34480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Login/logout, user, szerep alapú elérés.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85BCC8-90FD-4765-92FF-0579EDEC4F79}"/>
              </a:ext>
            </a:extLst>
          </p:cNvPr>
          <p:cNvSpPr>
            <a:spLocks noGrp="1"/>
          </p:cNvSpPr>
          <p:nvPr/>
        </p:nvSpPr>
        <p:spPr>
          <a:xfrm>
            <a:off x="4591050" y="4286250"/>
            <a:ext cx="2476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C1D034-3C54-417C-860E-3A0DAA208BFC}"/>
              </a:ext>
            </a:extLst>
          </p:cNvPr>
          <p:cNvSpPr>
            <a:spLocks noGrp="1"/>
          </p:cNvSpPr>
          <p:nvPr/>
        </p:nvSpPr>
        <p:spPr>
          <a:xfrm>
            <a:off x="4762500" y="443865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DataTable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42E6A0-EFCB-4E1C-B68D-74C550DA03E0}"/>
              </a:ext>
            </a:extLst>
          </p:cNvPr>
          <p:cNvSpPr>
            <a:spLocks noGrp="1"/>
          </p:cNvSpPr>
          <p:nvPr/>
        </p:nvSpPr>
        <p:spPr>
          <a:xfrm>
            <a:off x="4762500" y="47434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Szűrők, mobil kártya nézet, üres/hiba állapotok.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2768FB-F70D-407F-8C15-556B52B3F6CF}"/>
              </a:ext>
            </a:extLst>
          </p:cNvPr>
          <p:cNvSpPr>
            <a:spLocks noGrp="1"/>
          </p:cNvSpPr>
          <p:nvPr/>
        </p:nvSpPr>
        <p:spPr>
          <a:xfrm>
            <a:off x="8172450" y="2343150"/>
            <a:ext cx="2476500" cy="971550"/>
          </a:xfrm>
          <a:prstGeom prst="rect">
            <a:avLst/>
          </a:prstGeom>
          <a:solidFill>
            <a:srgbClr val="DDF5F1"/>
          </a:solidFill>
          <a:ln w="9525">
            <a:solidFill>
              <a:srgbClr val="0C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142B63-245D-4DDB-BE18-4CEC3DC6C281}"/>
              </a:ext>
            </a:extLst>
          </p:cNvPr>
          <p:cNvSpPr>
            <a:spLocks noGrp="1"/>
          </p:cNvSpPr>
          <p:nvPr/>
        </p:nvSpPr>
        <p:spPr>
          <a:xfrm>
            <a:off x="8343900" y="249555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LocationMapPicker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8EFBD7-C005-4994-9825-913BC0156511}"/>
              </a:ext>
            </a:extLst>
          </p:cNvPr>
          <p:cNvSpPr>
            <a:spLocks noGrp="1"/>
          </p:cNvSpPr>
          <p:nvPr/>
        </p:nvSpPr>
        <p:spPr>
          <a:xfrm>
            <a:off x="8343900" y="28003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Leaflet marker, click/drag, koordináta visszaadás.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420643-4CB7-4D82-9B59-7F11FFBEC994}"/>
              </a:ext>
            </a:extLst>
          </p:cNvPr>
          <p:cNvSpPr>
            <a:spLocks noGrp="1"/>
          </p:cNvSpPr>
          <p:nvPr/>
        </p:nvSpPr>
        <p:spPr>
          <a:xfrm>
            <a:off x="8172450" y="3829050"/>
            <a:ext cx="2476500" cy="971550"/>
          </a:xfrm>
          <a:prstGeom prst="rect">
            <a:avLst/>
          </a:prstGeom>
          <a:solidFill>
            <a:srgbClr val="F7E7C8"/>
          </a:solidFill>
          <a:ln w="9525">
            <a:solidFill>
              <a:srgbClr val="D99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9F0870-B1FF-45FE-BB24-862297EADDFD}"/>
              </a:ext>
            </a:extLst>
          </p:cNvPr>
          <p:cNvSpPr>
            <a:spLocks noGrp="1"/>
          </p:cNvSpPr>
          <p:nvPr/>
        </p:nvSpPr>
        <p:spPr>
          <a:xfrm>
            <a:off x="8343900" y="398145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Forms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1E9972-33F5-4AC6-8A76-5BA3C42E503C}"/>
              </a:ext>
            </a:extLst>
          </p:cNvPr>
          <p:cNvSpPr>
            <a:spLocks noGrp="1"/>
          </p:cNvSpPr>
          <p:nvPr/>
        </p:nvSpPr>
        <p:spPr>
          <a:xfrm>
            <a:off x="8343900" y="4286250"/>
            <a:ext cx="2133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FormSection és PrecisionInput a konzisztens admin űrlapokhoz.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DFD740-40F6-4259-A945-8A5BBA5990F6}"/>
              </a:ext>
            </a:extLst>
          </p:cNvPr>
          <p:cNvSpPr>
            <a:spLocks noGrp="1"/>
          </p:cNvSpPr>
          <p:nvPr/>
        </p:nvSpPr>
        <p:spPr>
          <a:xfrm>
            <a:off x="3543300" y="2190750"/>
            <a:ext cx="8382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C61E-2AC9-49EB-A0C1-8174F015F98B}"/>
              </a:ext>
            </a:extLst>
          </p:cNvPr>
          <p:cNvSpPr>
            <a:spLocks noGrp="1"/>
          </p:cNvSpPr>
          <p:nvPr/>
        </p:nvSpPr>
        <p:spPr>
          <a:xfrm>
            <a:off x="4381500" y="20669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4595E8-A9BD-472B-B4CD-296430D7C0CE}"/>
              </a:ext>
            </a:extLst>
          </p:cNvPr>
          <p:cNvSpPr>
            <a:spLocks noGrp="1"/>
          </p:cNvSpPr>
          <p:nvPr/>
        </p:nvSpPr>
        <p:spPr>
          <a:xfrm>
            <a:off x="3543300" y="3486150"/>
            <a:ext cx="8382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17F618-BB71-4F4C-AA0D-5AB57BF9E359}"/>
              </a:ext>
            </a:extLst>
          </p:cNvPr>
          <p:cNvSpPr>
            <a:spLocks noGrp="1"/>
          </p:cNvSpPr>
          <p:nvPr/>
        </p:nvSpPr>
        <p:spPr>
          <a:xfrm>
            <a:off x="4381500" y="33623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3C818E-503B-4EB4-A5F0-2924BDC17190}"/>
              </a:ext>
            </a:extLst>
          </p:cNvPr>
          <p:cNvSpPr>
            <a:spLocks noGrp="1"/>
          </p:cNvSpPr>
          <p:nvPr/>
        </p:nvSpPr>
        <p:spPr>
          <a:xfrm>
            <a:off x="3543300" y="4781550"/>
            <a:ext cx="83820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6B8309-61DB-4A42-BF9E-E9041AA6E87F}"/>
              </a:ext>
            </a:extLst>
          </p:cNvPr>
          <p:cNvSpPr>
            <a:spLocks noGrp="1"/>
          </p:cNvSpPr>
          <p:nvPr/>
        </p:nvSpPr>
        <p:spPr>
          <a:xfrm>
            <a:off x="4381500" y="4657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BF729B-E8AC-4BF9-9EC6-CFA0F19E3201}"/>
              </a:ext>
            </a:extLst>
          </p:cNvPr>
          <p:cNvSpPr>
            <a:spLocks noGrp="1"/>
          </p:cNvSpPr>
          <p:nvPr/>
        </p:nvSpPr>
        <p:spPr>
          <a:xfrm>
            <a:off x="7067550" y="2838450"/>
            <a:ext cx="8953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3D7526-5B9D-4AEE-A65D-CB757A7384BE}"/>
              </a:ext>
            </a:extLst>
          </p:cNvPr>
          <p:cNvSpPr>
            <a:spLocks noGrp="1"/>
          </p:cNvSpPr>
          <p:nvPr/>
        </p:nvSpPr>
        <p:spPr>
          <a:xfrm>
            <a:off x="7962900" y="27146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02FBD3-399F-4387-8BD6-4D43CA00D61A}"/>
              </a:ext>
            </a:extLst>
          </p:cNvPr>
          <p:cNvSpPr>
            <a:spLocks noGrp="1"/>
          </p:cNvSpPr>
          <p:nvPr/>
        </p:nvSpPr>
        <p:spPr>
          <a:xfrm>
            <a:off x="7067550" y="4324350"/>
            <a:ext cx="895350" cy="20955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A93B4C-C485-44D8-A7CE-528E4E457E92}"/>
              </a:ext>
            </a:extLst>
          </p:cNvPr>
          <p:cNvSpPr>
            <a:spLocks noGrp="1"/>
          </p:cNvSpPr>
          <p:nvPr/>
        </p:nvSpPr>
        <p:spPr>
          <a:xfrm>
            <a:off x="7962900" y="42005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DFABF6-20C9-4031-8070-9F3668790022}"/>
              </a:ext>
            </a:extLst>
          </p:cNvPr>
          <p:cNvSpPr>
            <a:spLocks noGrp="1"/>
          </p:cNvSpPr>
          <p:nvPr/>
        </p:nvSpPr>
        <p:spPr>
          <a:xfrm>
            <a:off x="1085850" y="5657850"/>
            <a:ext cx="885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A shared-ui nem “szépítő” réteg: viselkedést, reszponzív navigációt és adatmegjelenítési mintát is központosít.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6419C9-3A9A-4B51-8FD8-D39D87ADF17E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EDED4A-BEA3-49E3-98E5-9C868906DF9F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020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2087B78-2EB2-4BB0-B7CB-3EB7C37624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E53E3415-EC0E-477E-8646-1145A9AEAF16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6E1C2EFA-5700-47CF-B877-581AEBC456F2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TECHNIKAI ALAP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03024-FEE6-4FDC-9F8A-5702AC60551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239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032"/>
                </a:solidFill>
                <a:latin typeface="Aptos Display"/>
                <a:ea typeface="Aptos Display"/>
                <a:cs typeface="Aptos Display"/>
              </a:rPr>
              <a:t>A UI a microservice szerződésekhez és jogosultságokhoz van kötve.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CE9E5F-AD96-45E3-8B2A-A20E1F90E007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57175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D073C-AFE3-4AAE-840C-1D1D89C382A9}"/>
              </a:ext>
            </a:extLst>
          </p:cNvPr>
          <p:cNvSpPr>
            <a:spLocks noGrp="1"/>
          </p:cNvSpPr>
          <p:nvPr/>
        </p:nvSpPr>
        <p:spPr>
          <a:xfrm>
            <a:off x="1009650" y="2228850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395A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395AEF"/>
                </a:solidFill>
                <a:latin typeface="Aptos Display"/>
                <a:ea typeface="Aptos Display"/>
                <a:cs typeface="Aptos Display"/>
              </a:rPr>
              <a:t>11 746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2F5CDE-D517-44E0-B6B7-1D0330ECF862}"/>
              </a:ext>
            </a:extLst>
          </p:cNvPr>
          <p:cNvSpPr>
            <a:spLocks noGrp="1"/>
          </p:cNvSpPr>
          <p:nvPr/>
        </p:nvSpPr>
        <p:spPr>
          <a:xfrm>
            <a:off x="1009650" y="2705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TS/TSX sor a fő UI scope-ban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86FAD-597B-43A6-B123-86AF3AA2FB02}"/>
              </a:ext>
            </a:extLst>
          </p:cNvPr>
          <p:cNvSpPr>
            <a:spLocks noGrp="1"/>
          </p:cNvSpPr>
          <p:nvPr/>
        </p:nvSpPr>
        <p:spPr>
          <a:xfrm>
            <a:off x="1009650" y="3200400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C948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C9488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083360-82E6-4853-A14F-9384DCE1E449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page-level képernyő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507DD6-813B-4963-8D38-46AF40506F7F}"/>
              </a:ext>
            </a:extLst>
          </p:cNvPr>
          <p:cNvSpPr>
            <a:spLocks noGrp="1"/>
          </p:cNvSpPr>
          <p:nvPr/>
        </p:nvSpPr>
        <p:spPr>
          <a:xfrm>
            <a:off x="3848100" y="1924050"/>
            <a:ext cx="3162300" cy="2514600"/>
          </a:xfrm>
          <a:prstGeom prst="rect">
            <a:avLst/>
          </a:prstGeom>
          <a:solidFill>
            <a:srgbClr val="102032"/>
          </a:solidFill>
          <a:ln w="9525">
            <a:solidFill>
              <a:srgbClr val="102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1AD148-8B67-4663-B23C-8F24344FA3FB}"/>
              </a:ext>
            </a:extLst>
          </p:cNvPr>
          <p:cNvSpPr>
            <a:spLocks noGrp="1"/>
          </p:cNvSpPr>
          <p:nvPr/>
        </p:nvSpPr>
        <p:spPr>
          <a:xfrm>
            <a:off x="4133850" y="2209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API-kliensek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D8B0C5-E69B-419B-8E7C-D78B3A16F1D6}"/>
              </a:ext>
            </a:extLst>
          </p:cNvPr>
          <p:cNvSpPr>
            <a:spLocks noGrp="1"/>
          </p:cNvSpPr>
          <p:nvPr/>
        </p:nvSpPr>
        <p:spPr>
          <a:xfrm>
            <a:off x="4133850" y="2724150"/>
            <a:ext cx="23812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rPr>
              <a:t>swagger-typescript-api</a:t>
            </a:r>
          </a:p>
          <a:p>
            <a:pPr algn="l">
              <a:def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rPr>
              <a:t>OrdersApiClient</a:t>
            </a:r>
          </a:p>
          <a:p>
            <a:pPr algn="l">
              <a:def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rPr>
              <a:t>TrackingApiClient</a:t>
            </a:r>
          </a:p>
          <a:p>
            <a:pPr algn="l">
              <a:def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rPr>
              <a:t>LogisticsApiClient</a:t>
            </a:r>
          </a:p>
          <a:p>
            <a:pPr algn="l">
              <a:def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CE6FA"/>
                </a:solidFill>
                <a:latin typeface="Aptos Mono"/>
                <a:ea typeface="Aptos Mono"/>
                <a:cs typeface="Aptos Mono"/>
              </a:rPr>
              <a:t>CourierApiClient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A7F1D-3EA0-4F2D-B14B-C06D28916648}"/>
              </a:ext>
            </a:extLst>
          </p:cNvPr>
          <p:cNvSpPr>
            <a:spLocks noGrp="1"/>
          </p:cNvSpPr>
          <p:nvPr/>
        </p:nvSpPr>
        <p:spPr>
          <a:xfrm>
            <a:off x="7600950" y="1924050"/>
            <a:ext cx="31623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DF5B70-D344-4590-81D0-7919E253493E}"/>
              </a:ext>
            </a:extLst>
          </p:cNvPr>
          <p:cNvSpPr>
            <a:spLocks noGrp="1"/>
          </p:cNvSpPr>
          <p:nvPr/>
        </p:nvSpPr>
        <p:spPr>
          <a:xfrm>
            <a:off x="7886700" y="22098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032"/>
                </a:solidFill>
                <a:latin typeface="Aptos"/>
                <a:ea typeface="Aptos"/>
                <a:cs typeface="Aptos"/>
              </a:rPr>
              <a:t>Jogosultsági kapuk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A0542-5D1C-4A8B-BAD1-4579A0FF7657}"/>
              </a:ext>
            </a:extLst>
          </p:cNvPr>
          <p:cNvSpPr>
            <a:spLocks noGrp="1"/>
          </p:cNvSpPr>
          <p:nvPr/>
        </p:nvSpPr>
        <p:spPr>
          <a:xfrm>
            <a:off x="7886700" y="2724150"/>
            <a:ext cx="23431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171"/>
                </a:solidFill>
                <a:latin typeface="Aptos"/>
                <a:ea typeface="Aptos"/>
                <a:cs typeface="Aptos"/>
              </a:rPr>
              <a:t>A logisztikai és futárportál nem csak route-ot definiál: user szerepkör alapján enged be vagy terel vissza.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23F3CD-4A6F-4B1C-BB8D-C824D334B25A}"/>
              </a:ext>
            </a:extLst>
          </p:cNvPr>
          <p:cNvSpPr>
            <a:spLocks noGrp="1"/>
          </p:cNvSpPr>
          <p:nvPr/>
        </p:nvSpPr>
        <p:spPr>
          <a:xfrm>
            <a:off x="7886700" y="37719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95AE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395AEF"/>
                </a:solidFill>
                <a:latin typeface="Aptos Mono"/>
                <a:ea typeface="Aptos Mono"/>
                <a:cs typeface="Aptos Mono"/>
              </a:rPr>
              <a:t>RequireLogisticsAccess</a:t>
            </a:r>
          </a:p>
          <a:p>
            <a:pPr algn="l">
              <a:defRPr sz="1125" b="0">
                <a:solidFill>
                  <a:srgbClr val="395AE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395AEF"/>
                </a:solidFill>
                <a:latin typeface="Aptos Mono"/>
                <a:ea typeface="Aptos Mono"/>
                <a:cs typeface="Aptos Mono"/>
              </a:rPr>
              <a:t>RequireCourierAccess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9A355D-DDCD-4CFB-8FCE-0D638D59564B}"/>
              </a:ext>
            </a:extLst>
          </p:cNvPr>
          <p:cNvSpPr>
            <a:spLocks noGrp="1"/>
          </p:cNvSpPr>
          <p:nvPr/>
        </p:nvSpPr>
        <p:spPr>
          <a:xfrm>
            <a:off x="1543050" y="4953000"/>
            <a:ext cx="7810500" cy="914400"/>
          </a:xfrm>
          <a:prstGeom prst="rect">
            <a:avLst/>
          </a:prstGeom>
          <a:solidFill>
            <a:srgbClr val="132235"/>
          </a:solidFill>
          <a:ln w="9525">
            <a:solidFill>
              <a:srgbClr val="132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28D536-853A-44A5-8E33-98FB03BAACB9}"/>
              </a:ext>
            </a:extLst>
          </p:cNvPr>
          <p:cNvSpPr>
            <a:spLocks noGrp="1"/>
          </p:cNvSpPr>
          <p:nvPr/>
        </p:nvSpPr>
        <p:spPr>
          <a:xfrm>
            <a:off x="1714500" y="5105400"/>
            <a:ext cx="7467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scripts: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dev:client      -&gt; apps/client-ui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dev:logistics   -&gt; apps/logistics-ui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dev:courier     -&gt; apps/courier-ui</a:t>
            </a:r>
          </a:p>
          <a:p>
            <a:pPr algn="l">
              <a:def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7EEF9"/>
                </a:solidFill>
                <a:latin typeface="Aptos Mono"/>
                <a:ea typeface="Aptos Mono"/>
                <a:cs typeface="Aptos Mono"/>
              </a:rPr>
              <a:t>  generate-*api   -&gt; shared-core/api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DDBE1F-3712-424F-99D8-6FFE2291A56F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01F433-3539-4DA9-A72E-15C6D9E82825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466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8DFBA69-67B6-4939-A49C-58587D8D20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690BB38A-5735-455E-8295-69AEA75518A3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19100" cy="38100"/>
          </a:xfrm>
          <a:prstGeom prst="rect">
            <a:avLst/>
          </a:prstGeom>
          <a:solidFill>
            <a:srgbClr val="395A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EB86E060-9431-4AEF-B73F-1E1147E2D94E}"/>
              </a:ext>
            </a:extLst>
          </p:cNvPr>
          <p:cNvSpPr>
            <a:spLocks noGrp="1"/>
          </p:cNvSpPr>
          <p:nvPr/>
        </p:nvSpPr>
        <p:spPr>
          <a:xfrm>
            <a:off x="1066800" y="33337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2CF"/>
                </a:solidFill>
                <a:latin typeface="Aptos"/>
                <a:ea typeface="Aptos"/>
                <a:cs typeface="Aptos"/>
              </a:rPr>
              <a:t>ZÁRÁS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D9528B-1E5F-43E8-8911-955E89F1136E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620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legjobb 10 perces bemutató: három rövid demo és egy technikai tanulság.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BFEFC4-CB2D-45D2-ADE4-F0B152600536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123950" cy="400050"/>
          </a:xfrm>
          <a:prstGeom prst="rect">
            <a:avLst/>
          </a:prstGeom>
          <a:solidFill>
            <a:srgbClr val="395A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84587-51A3-4600-9C9B-B4A4C0DA4D35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1:00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74F133-21AC-4822-9857-16A0FD55BAD9}"/>
              </a:ext>
            </a:extLst>
          </p:cNvPr>
          <p:cNvSpPr>
            <a:spLocks noGrp="1"/>
          </p:cNvSpPr>
          <p:nvPr/>
        </p:nvSpPr>
        <p:spPr>
          <a:xfrm>
            <a:off x="2343150" y="17145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Kontextus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227B84-92E2-450B-AAF5-1EBEDF4313B2}"/>
              </a:ext>
            </a:extLst>
          </p:cNvPr>
          <p:cNvSpPr>
            <a:spLocks noGrp="1"/>
          </p:cNvSpPr>
          <p:nvPr/>
        </p:nvSpPr>
        <p:spPr>
          <a:xfrm>
            <a:off x="4953000" y="1752600"/>
            <a:ext cx="542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Mi a Micro-futár, kik a UI szereplők?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E550C-653C-4D5B-A00A-12A8582B6A7F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1123950" cy="400050"/>
          </a:xfrm>
          <a:prstGeom prst="rect">
            <a:avLst/>
          </a:prstGeom>
          <a:solidFill>
            <a:srgbClr val="0C948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FFAAC0-C10D-41B5-AC24-66AD7893A126}"/>
              </a:ext>
            </a:extLst>
          </p:cNvPr>
          <p:cNvSpPr>
            <a:spLocks noGrp="1"/>
          </p:cNvSpPr>
          <p:nvPr/>
        </p:nvSpPr>
        <p:spPr>
          <a:xfrm>
            <a:off x="876300" y="24384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A12A2-F41C-4284-B738-052FD9688F2C}"/>
              </a:ext>
            </a:extLst>
          </p:cNvPr>
          <p:cNvSpPr>
            <a:spLocks noGrp="1"/>
          </p:cNvSpPr>
          <p:nvPr/>
        </p:nvSpPr>
        <p:spPr>
          <a:xfrm>
            <a:off x="2343150" y="2362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Feladói út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39C785-6D3C-4CD3-8CC6-695026E5B3D0}"/>
              </a:ext>
            </a:extLst>
          </p:cNvPr>
          <p:cNvSpPr>
            <a:spLocks noGrp="1"/>
          </p:cNvSpPr>
          <p:nvPr/>
        </p:nvSpPr>
        <p:spPr>
          <a:xfrm>
            <a:off x="4953000" y="2400300"/>
            <a:ext cx="542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Csomagfeladás: cím, térkép, csomagméret, ár.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D9B9AF-7498-4E5C-8C33-8722041F15B2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1123950" cy="400050"/>
          </a:xfrm>
          <a:prstGeom prst="rect">
            <a:avLst/>
          </a:prstGeom>
          <a:solidFill>
            <a:srgbClr val="395A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8AB8D9-175A-44C1-B35F-07F849978F50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EC010-F232-470F-A4E5-785CA159328F}"/>
              </a:ext>
            </a:extLst>
          </p:cNvPr>
          <p:cNvSpPr>
            <a:spLocks noGrp="1"/>
          </p:cNvSpPr>
          <p:nvPr/>
        </p:nvSpPr>
        <p:spPr>
          <a:xfrm>
            <a:off x="2343150" y="30099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Logisztika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089D3-73A6-41C5-A045-E3C2CDD3906F}"/>
              </a:ext>
            </a:extLst>
          </p:cNvPr>
          <p:cNvSpPr>
            <a:spLocks noGrp="1"/>
          </p:cNvSpPr>
          <p:nvPr/>
        </p:nvSpPr>
        <p:spPr>
          <a:xfrm>
            <a:off x="4953000" y="3048000"/>
            <a:ext cx="542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Depók/lokációk/adattáblák és admin műveletek.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F6091-DF48-4B98-853A-E2C5E3BFD7FD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1123950" cy="400050"/>
          </a:xfrm>
          <a:prstGeom prst="rect">
            <a:avLst/>
          </a:prstGeom>
          <a:solidFill>
            <a:srgbClr val="0C948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DA3F0A-5CFE-465A-8B90-E8C49B442349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6DCE7D-C8FF-48C5-967F-8DADE31B0FEC}"/>
              </a:ext>
            </a:extLst>
          </p:cNvPr>
          <p:cNvSpPr>
            <a:spLocks noGrp="1"/>
          </p:cNvSpPr>
          <p:nvPr/>
        </p:nvSpPr>
        <p:spPr>
          <a:xfrm>
            <a:off x="2343150" y="36576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Futár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1C3DE0-CA7A-45F3-AEEA-2908A5191600}"/>
              </a:ext>
            </a:extLst>
          </p:cNvPr>
          <p:cNvSpPr>
            <a:spLocks noGrp="1"/>
          </p:cNvSpPr>
          <p:nvPr/>
        </p:nvSpPr>
        <p:spPr>
          <a:xfrm>
            <a:off x="4953000" y="3695700"/>
            <a:ext cx="542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Kiosztások, pickup/dropoff és napi munkamenet.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860900-C2D3-4A79-8EC4-EBA67601A95B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1123950" cy="400050"/>
          </a:xfrm>
          <a:prstGeom prst="rect">
            <a:avLst/>
          </a:prstGeom>
          <a:solidFill>
            <a:srgbClr val="395AE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8C383E-38E6-4EDE-8E8F-6AC8B33EF6D7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2:00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217F49-AE3B-4142-9CC7-219616605A3F}"/>
              </a:ext>
            </a:extLst>
          </p:cNvPr>
          <p:cNvSpPr>
            <a:spLocks noGrp="1"/>
          </p:cNvSpPr>
          <p:nvPr/>
        </p:nvSpPr>
        <p:spPr>
          <a:xfrm>
            <a:off x="2343150" y="43053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Shared alap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A807FA-11EC-47B5-9971-7D9E04C815F3}"/>
              </a:ext>
            </a:extLst>
          </p:cNvPr>
          <p:cNvSpPr>
            <a:spLocks noGrp="1"/>
          </p:cNvSpPr>
          <p:nvPr/>
        </p:nvSpPr>
        <p:spPr>
          <a:xfrm>
            <a:off x="4953000" y="4343400"/>
            <a:ext cx="542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PortalLayout, DataTable, auth és API-kliensek.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E7545A-389A-4267-9F73-22B28EFBF6C3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1123950" cy="400050"/>
          </a:xfrm>
          <a:prstGeom prst="rect">
            <a:avLst/>
          </a:prstGeom>
          <a:solidFill>
            <a:srgbClr val="0C948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5F1833-8709-4686-977F-5FBE17663F5B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1:00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D23771-F109-43D1-9593-702CCFB0CE15}"/>
              </a:ext>
            </a:extLst>
          </p:cNvPr>
          <p:cNvSpPr>
            <a:spLocks noGrp="1"/>
          </p:cNvSpPr>
          <p:nvPr/>
        </p:nvSpPr>
        <p:spPr>
          <a:xfrm>
            <a:off x="2343150" y="49530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2A7076-C5D8-4B72-8D08-9DE0E4611DDD}"/>
              </a:ext>
            </a:extLst>
          </p:cNvPr>
          <p:cNvSpPr>
            <a:spLocks noGrp="1"/>
          </p:cNvSpPr>
          <p:nvPr/>
        </p:nvSpPr>
        <p:spPr>
          <a:xfrm>
            <a:off x="4953000" y="4991100"/>
            <a:ext cx="542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CE6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6FA"/>
                </a:solidFill>
                <a:latin typeface="Aptos"/>
                <a:ea typeface="Aptos"/>
                <a:cs typeface="Aptos"/>
              </a:rPr>
              <a:t>Tesztelés, vizuális polish, offline/PWA futár flow.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BE6915-5987-499C-8C99-62A5E2695621}"/>
              </a:ext>
            </a:extLst>
          </p:cNvPr>
          <p:cNvSpPr>
            <a:spLocks noGrp="1"/>
          </p:cNvSpPr>
          <p:nvPr/>
        </p:nvSpPr>
        <p:spPr>
          <a:xfrm>
            <a:off x="7239000" y="5219700"/>
            <a:ext cx="3524250" cy="990600"/>
          </a:xfrm>
          <a:prstGeom prst="rect">
            <a:avLst/>
          </a:prstGeom>
          <a:solidFill>
            <a:srgbClr val="F6F1E8"/>
          </a:solidFill>
          <a:ln w="9525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F13C3B-1245-476E-9A27-9899F376FADF}"/>
              </a:ext>
            </a:extLst>
          </p:cNvPr>
          <p:cNvSpPr>
            <a:spLocks noGrp="1"/>
          </p:cNvSpPr>
          <p:nvPr/>
        </p:nvSpPr>
        <p:spPr>
          <a:xfrm>
            <a:off x="7486650" y="54102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95AE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95AEF"/>
                </a:solidFill>
                <a:latin typeface="Aptos"/>
                <a:ea typeface="Aptos"/>
                <a:cs typeface="Aptos"/>
              </a:rPr>
              <a:t>Záró mondat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2E8DE2-E93A-4E4D-A46C-230DFE6F1D0B}"/>
              </a:ext>
            </a:extLst>
          </p:cNvPr>
          <p:cNvSpPr>
            <a:spLocks noGrp="1"/>
          </p:cNvSpPr>
          <p:nvPr/>
        </p:nvSpPr>
        <p:spPr>
          <a:xfrm>
            <a:off x="8629650" y="5334000"/>
            <a:ext cx="1809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020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2"/>
                </a:solidFill>
                <a:latin typeface="Aptos"/>
                <a:ea typeface="Aptos"/>
                <a:cs typeface="Aptos"/>
              </a:rPr>
              <a:t>“A félév végére a UI már nem prototípus-oldalak halmaza, hanem használható szerepkörös rendszer.”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B5A92F-9178-47AB-B224-22B187056C16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906000" cy="11430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923997-E51A-469A-A5EF-785769B71A40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261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6710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Microsoft Macintosh PowerPoint</Application>
  <DocSecurity>0</DocSecurity>
  <PresentationFormat>Widescreen</PresentationFormat>
  <Paragraphs>225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Marton Mack</cp:lastModifiedBy>
  <cp:revision>1</cp:revision>
  <dcterms:created xsi:type="dcterms:W3CDTF">2026-06-01T19:43:06Z</dcterms:created>
  <dcterms:modified xsi:type="dcterms:W3CDTF">2026-06-01T19:49:12Z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ChatGPT:4</vt:lpwstr>
  </property>
  <property fmtid="{D5CDD505-2E9C-101B-9397-08002B2CF9AE}" pid="5" name="ClassificationContentMarkingHeaderText">
    <vt:lpwstr>Confidential - Oracle Restricted \Employees Only</vt:lpwstr>
  </property>
</Properties>
</file>